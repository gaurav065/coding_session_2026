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21D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65615" y="-1463040"/>
            <a:ext cx="4206240" cy="4206240"/>
          </a:xfrm>
          <a:prstGeom prst="ellipse">
            <a:avLst/>
          </a:prstGeom>
          <a:solidFill>
            <a:srgbClr val="4A3F5C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728655" y="4663440"/>
            <a:ext cx="2926080" cy="2926080"/>
          </a:xfrm>
          <a:prstGeom prst="ellipse">
            <a:avLst/>
          </a:prstGeom>
          <a:solidFill>
            <a:srgbClr val="D4A373">
              <a:alpha val="35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02920" y="137160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CD9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LUFTHANSA TERADATA → DATABRICKS MIGRATION  ·  REFERENCE DOCUMENTATION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828800"/>
            <a:ext cx="96926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Teradata Defect &amp; Out-of-Scope Item Tracker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3520440"/>
            <a:ext cx="9509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ECD9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all-pods tracker works, and what 18 logged items are actually telling us about where migration defects come from.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502920" y="4617720"/>
            <a:ext cx="3291840" cy="0"/>
          </a:xfrm>
          <a:prstGeom prst="line">
            <a:avLst/>
          </a:prstGeom>
          <a:noFill/>
          <a:ln w="19050">
            <a:solidFill>
              <a:srgbClr val="D4A37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02920" y="47548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 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Pods — Shared Tracker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502920" y="51206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Snapshot as of latest export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502920" y="54864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Documentation · Defect Tracking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4A3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MAP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6692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21D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deck covers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298448"/>
            <a:ext cx="11185855" cy="0"/>
          </a:xfrm>
          <a:prstGeom prst="line">
            <a:avLst/>
          </a:prstGeom>
          <a:noFill/>
          <a:ln w="12700">
            <a:solidFill>
              <a:srgbClr val="E2E2E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02920" y="1600200"/>
            <a:ext cx="11185855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221D2B"/>
                </a:solidFill>
              </a:rPr>
              <a:t>What the tracker is for, and who it's for</a:t>
            </a:r>
            <a:endParaRPr lang="en-US" sz="150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221D2B"/>
                </a:solidFill>
              </a:rPr>
              <a:t>Anatomy of a tracker row — every column explained</a:t>
            </a:r>
            <a:endParaRPr lang="en-US" sz="150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221D2B"/>
                </a:solidFill>
              </a:rPr>
              <a:t>The three item types it captures, with real examples</a:t>
            </a:r>
            <a:endParaRPr lang="en-US" sz="150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221D2B"/>
                </a:solidFill>
              </a:rPr>
              <a:t>A data snapshot: status, priority, and effort across all 18 logged items</a:t>
            </a:r>
            <a:endParaRPr lang="en-US" sz="150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221D2B"/>
                </a:solidFill>
              </a:rPr>
              <a:t>The recurring pattern hiding in plain sight — and two defects that hit every stream</a:t>
            </a:r>
            <a:endParaRPr lang="en-US" sz="150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221D2B"/>
                </a:solidFill>
              </a:rPr>
              <a:t>How to log a new item correctly, and when to escalate outside the tracker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4A3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6692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21D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tracker is for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298448"/>
            <a:ext cx="11185855" cy="0"/>
          </a:xfrm>
          <a:prstGeom prst="line">
            <a:avLst/>
          </a:prstGeom>
          <a:noFill/>
          <a:ln w="12700">
            <a:solidFill>
              <a:srgbClr val="E2E2E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737360"/>
            <a:ext cx="502920" cy="502920"/>
          </a:xfrm>
          <a:prstGeom prst="ellipse">
            <a:avLst/>
          </a:prstGeom>
          <a:solidFill>
            <a:srgbClr val="4A3F5C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02920" y="1737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188720" y="1673352"/>
            <a:ext cx="105000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21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shared list, across every pod</a:t>
            </a:r>
            <a:endParaRPr lang="en-US" sz="1450" dirty="0"/>
          </a:p>
        </p:txBody>
      </p:sp>
      <p:sp>
        <p:nvSpPr>
          <p:cNvPr id="8" name="Text 6"/>
          <p:cNvSpPr txBox="1"/>
          <p:nvPr/>
        </p:nvSpPr>
        <p:spPr>
          <a:xfrm>
            <a:off x="1188720" y="1993392"/>
            <a:ext cx="1050005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source of truth for Teradata defects, change requests, and out-of-scope items — not a per-squad spreadsheet that only your pod can see.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02920" y="3154680"/>
            <a:ext cx="502920" cy="502920"/>
          </a:xfrm>
          <a:prstGeom prst="ellipse">
            <a:avLst/>
          </a:prstGeom>
          <a:solidFill>
            <a:srgbClr val="D4A373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02920" y="3154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1188720" y="3090672"/>
            <a:ext cx="105000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21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Traceability from symptom to fix</a:t>
            </a:r>
            <a:endParaRPr lang="en-US" sz="1450" dirty="0"/>
          </a:p>
        </p:txBody>
      </p:sp>
      <p:sp>
        <p:nvSpPr>
          <p:cNvPr id="12" name="Text 10"/>
          <p:cNvSpPr txBox="1"/>
          <p:nvPr/>
        </p:nvSpPr>
        <p:spPr>
          <a:xfrm>
            <a:off x="1188720" y="3410712"/>
            <a:ext cx="1050005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row carries the defect description, its root cause, who owns it, and what action actually closed it — so the next person who hits something similar doesn't start from zero.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02920" y="4572000"/>
            <a:ext cx="502920" cy="502920"/>
          </a:xfrm>
          <a:prstGeom prst="ellipse">
            <a:avLst/>
          </a:prstGeom>
          <a:solidFill>
            <a:srgbClr val="221D2B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02920" y="4572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1188720" y="4507992"/>
            <a:ext cx="105000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21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record for planning, not just fixing</a:t>
            </a:r>
            <a:endParaRPr lang="en-US" sz="1450" dirty="0"/>
          </a:p>
        </p:txBody>
      </p:sp>
      <p:sp>
        <p:nvSpPr>
          <p:cNvPr id="16" name="Text 14"/>
          <p:cNvSpPr txBox="1"/>
          <p:nvPr/>
        </p:nvSpPr>
        <p:spPr>
          <a:xfrm>
            <a:off x="1188720" y="4828032"/>
            <a:ext cx="1050005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Effort (hours) and Timeline (days) columns turn this into real data for scoping future migration waves, not just a to-do list.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4A3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6692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21D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Anatomy of a tracker row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298448"/>
            <a:ext cx="11185855" cy="0"/>
          </a:xfrm>
          <a:prstGeom prst="line">
            <a:avLst/>
          </a:prstGeom>
          <a:noFill/>
          <a:ln w="12700">
            <a:solidFill>
              <a:srgbClr val="E2E2E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02920" y="1600200"/>
            <a:ext cx="11185855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221D2B"/>
                </a:solidFill>
              </a:rPr>
              <a:t>Identity: Sl. No., Raised by, Community, Squad, Stream — pins the item to an exact place in the migration.</a:t>
            </a:r>
            <a:endParaRPr lang="en-US" sz="150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221D2B"/>
                </a:solidFill>
              </a:rPr>
              <a:t>Classification: Type (Teradata Defect / CR / Architecture Discussion), Description, Priority.</a:t>
            </a:r>
            <a:endParaRPr lang="en-US" sz="150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221D2B"/>
                </a:solidFill>
              </a:rPr>
              <a:t>Ownership: Ticket Id/Link, Owner, Status (Done / In-Progress).</a:t>
            </a:r>
            <a:endParaRPr lang="en-US" sz="150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221D2B"/>
                </a:solidFill>
              </a:rPr>
              <a:t>Cost: Effort (in Hrs), Timeline (in Days) — actuals, not estimates.</a:t>
            </a:r>
            <a:endParaRPr lang="en-US" sz="150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221D2B"/>
                </a:solidFill>
              </a:rPr>
              <a:t>Resolution: RCA, Action / Remarks — the part most useful to the next person.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4A3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6692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21D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three item types — with real examples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298448"/>
            <a:ext cx="11185855" cy="0"/>
          </a:xfrm>
          <a:prstGeom prst="line">
            <a:avLst/>
          </a:prstGeom>
          <a:noFill/>
          <a:ln w="12700">
            <a:solidFill>
              <a:srgbClr val="E2E2E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645920"/>
            <a:ext cx="3484778" cy="4709160"/>
          </a:xfrm>
          <a:prstGeom prst="roundRect">
            <a:avLst>
              <a:gd name="adj" fmla="val 2099"/>
            </a:avLst>
          </a:prstGeom>
          <a:solidFill>
            <a:srgbClr val="4A3F5C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1828800"/>
            <a:ext cx="30275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Teradata Defect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423160"/>
            <a:ext cx="3027578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</a:rPr>
              <a:t>16 of 18 logged items — by far the most common type</a:t>
            </a:r>
            <a:endParaRPr lang="en-US" sz="1200" dirty="0"/>
          </a:p>
          <a:p>
            <a:pPr marL="342900" indent="-3429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</a:rPr>
              <a:t>e.g. non-deterministic surrogate keys, timestamp time-zone conversion</a:t>
            </a:r>
            <a:endParaRPr lang="en-US" sz="1200" dirty="0"/>
          </a:p>
          <a:p>
            <a:pPr marL="342900" indent="-3429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</a:rPr>
              <a:t>Something Teradata itself did that Databricks can't reproduce or shouldn't inherit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353458" y="1645920"/>
            <a:ext cx="3484778" cy="4709160"/>
          </a:xfrm>
          <a:prstGeom prst="roundRect">
            <a:avLst>
              <a:gd name="adj" fmla="val 2099"/>
            </a:avLst>
          </a:prstGeom>
          <a:solidFill>
            <a:srgbClr val="F3EFF6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582058" y="1828800"/>
            <a:ext cx="30275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A3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 (Change Request)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4582058" y="2423160"/>
            <a:ext cx="3027578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21D2B"/>
                </a:solidFill>
              </a:rPr>
              <a:t>e.g. IMP_SAMBA — adding columns and their logic changes</a:t>
            </a:r>
            <a:endParaRPr lang="en-US" sz="1200" dirty="0"/>
          </a:p>
          <a:p>
            <a:pPr marL="342900" indent="-3429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21D2B"/>
                </a:solidFill>
              </a:rPr>
              <a:t>A genuine scope change, not a bug — usually needs back-and-forth with Lufthansa on timing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203997" y="1645920"/>
            <a:ext cx="3484778" cy="4709160"/>
          </a:xfrm>
          <a:prstGeom prst="roundRect">
            <a:avLst>
              <a:gd name="adj" fmla="val 2099"/>
            </a:avLst>
          </a:prstGeom>
          <a:solidFill>
            <a:srgbClr val="F3EFF6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432597" y="1828800"/>
            <a:ext cx="30275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A3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Discussion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8432597" y="2423160"/>
            <a:ext cx="3027578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21D2B"/>
                </a:solidFill>
              </a:rPr>
              <a:t>e.g. how to send stream-native emails — 3 proposed approaches, still unresolved</a:t>
            </a:r>
            <a:endParaRPr lang="en-US" sz="1200" dirty="0"/>
          </a:p>
          <a:p>
            <a:pPr marL="342900" indent="-3429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21D2B"/>
                </a:solidFill>
              </a:rPr>
              <a:t>Open design questions that need a decision, not a code fix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4A3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SNAPSHOT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6692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21D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 items logged — where they actually stand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298448"/>
            <a:ext cx="11185855" cy="0"/>
          </a:xfrm>
          <a:prstGeom prst="line">
            <a:avLst/>
          </a:prstGeom>
          <a:noFill/>
          <a:ln w="12700">
            <a:solidFill>
              <a:srgbClr val="E2E2E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737360"/>
            <a:ext cx="3515258" cy="1874520"/>
          </a:xfrm>
          <a:prstGeom prst="roundRect">
            <a:avLst>
              <a:gd name="adj" fmla="val 3902"/>
            </a:avLst>
          </a:prstGeom>
          <a:solidFill>
            <a:srgbClr val="F3EFF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40080" y="1901952"/>
            <a:ext cx="324093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4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 / 18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788920"/>
            <a:ext cx="324093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Items marked Done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338218" y="1737360"/>
            <a:ext cx="3515258" cy="1874520"/>
          </a:xfrm>
          <a:prstGeom prst="roundRect">
            <a:avLst>
              <a:gd name="adj" fmla="val 3902"/>
            </a:avLst>
          </a:prstGeom>
          <a:solidFill>
            <a:srgbClr val="F3EFF6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475378" y="1901952"/>
            <a:ext cx="324093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4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/ 18</a:t>
            </a:r>
            <a:endParaRPr lang="en-US" sz="3000" dirty="0"/>
          </a:p>
        </p:txBody>
      </p:sp>
      <p:sp>
        <p:nvSpPr>
          <p:cNvPr id="10" name="Text 8"/>
          <p:cNvSpPr txBox="1"/>
          <p:nvPr/>
        </p:nvSpPr>
        <p:spPr>
          <a:xfrm>
            <a:off x="4475378" y="2788920"/>
            <a:ext cx="324093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Still In-Progress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8173517" y="1737360"/>
            <a:ext cx="3515258" cy="1874520"/>
          </a:xfrm>
          <a:prstGeom prst="roundRect">
            <a:avLst>
              <a:gd name="adj" fmla="val 3902"/>
            </a:avLst>
          </a:prstGeom>
          <a:solidFill>
            <a:srgbClr val="F3EFF6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310677" y="1901952"/>
            <a:ext cx="324093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4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272 hrs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8310677" y="2788920"/>
            <a:ext cx="324093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effort logged to date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502920" y="3931920"/>
            <a:ext cx="11185855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221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effort per item is just over 15 hours — but that average hides a wide spread: several items closed in 4 hours, while one architecture discussion has already run to 100 hours and 60 days without a decision.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4A3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BREAKDOWN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6692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21D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the urgency actually sits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298448"/>
            <a:ext cx="11185855" cy="0"/>
          </a:xfrm>
          <a:prstGeom prst="line">
            <a:avLst/>
          </a:prstGeom>
          <a:noFill/>
          <a:ln w="12700">
            <a:solidFill>
              <a:srgbClr val="E2E2E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737360"/>
            <a:ext cx="3515258" cy="1874520"/>
          </a:xfrm>
          <a:prstGeom prst="roundRect">
            <a:avLst>
              <a:gd name="adj" fmla="val 3902"/>
            </a:avLst>
          </a:prstGeom>
          <a:solidFill>
            <a:srgbClr val="F3EFF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40080" y="1901952"/>
            <a:ext cx="324093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4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788920"/>
            <a:ext cx="324093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— both closed (folder-structure change, timestamp UTC conversion)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338218" y="1737360"/>
            <a:ext cx="3515258" cy="1874520"/>
          </a:xfrm>
          <a:prstGeom prst="roundRect">
            <a:avLst>
              <a:gd name="adj" fmla="val 3902"/>
            </a:avLst>
          </a:prstGeom>
          <a:solidFill>
            <a:srgbClr val="F3EFF6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475378" y="1901952"/>
            <a:ext cx="324093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4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</a:t>
            </a:r>
            <a:endParaRPr lang="en-US" sz="3000" dirty="0"/>
          </a:p>
        </p:txBody>
      </p:sp>
      <p:sp>
        <p:nvSpPr>
          <p:cNvPr id="10" name="Text 8"/>
          <p:cNvSpPr txBox="1"/>
          <p:nvPr/>
        </p:nvSpPr>
        <p:spPr>
          <a:xfrm>
            <a:off x="4475378" y="2788920"/>
            <a:ext cx="324093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— the overwhelming majority of logged items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8173517" y="1737360"/>
            <a:ext cx="3515258" cy="1874520"/>
          </a:xfrm>
          <a:prstGeom prst="roundRect">
            <a:avLst>
              <a:gd name="adj" fmla="val 3902"/>
            </a:avLst>
          </a:prstGeom>
          <a:solidFill>
            <a:srgbClr val="F3EFF6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310677" y="1901952"/>
            <a:ext cx="324093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4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8310677" y="2788920"/>
            <a:ext cx="324093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 — the one item Lufthansa marked Out of Scope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4A3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PATTERN HIDING IN PLAIN SIGHT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6692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21D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Non-deterministic surrogate keys — 8 of 18 items, 3 communities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298448"/>
            <a:ext cx="11185855" cy="0"/>
          </a:xfrm>
          <a:prstGeom prst="line">
            <a:avLst/>
          </a:prstGeom>
          <a:noFill/>
          <a:ln w="12700">
            <a:solidFill>
              <a:srgbClr val="E2E2E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02920" y="1600200"/>
            <a:ext cx="6492240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221D2B"/>
                </a:solidFill>
              </a:rPr>
              <a:t>Community 5: IMP_AVAILABILITY and its three variants (LX, OS, SN) — surrogate IDs in Teradata weren't unique.</a:t>
            </a:r>
            <a:endParaRPr lang="en-US" sz="150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221D2B"/>
                </a:solidFill>
              </a:rPr>
              <a:t>Community 2: IMP_COSMA_PARTNERS and IMP_IATCI_STATISTICS — a key generated by ROW_NUMBER() in Teradata with no unique record identification, used downstream in sequencing.</a:t>
            </a:r>
            <a:endParaRPr lang="en-US" sz="150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221D2B"/>
                </a:solidFill>
              </a:rPr>
              <a:t>Community 9: IMP_JV_APLUS_DAILY and IMP_JV_APLUS_WEEKLY — random surrogate keys generated in the Teradata stream, requiring both the Teradata and Databricks streams to be fixed.</a:t>
            </a:r>
            <a:endParaRPr lang="en-US" sz="150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221D2B"/>
                </a:solidFill>
              </a:rPr>
              <a:t>Same root cause, raised independently three times by three different people, in three different communities — before anyone connected them.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315200" y="1600200"/>
            <a:ext cx="4373575" cy="4846320"/>
          </a:xfrm>
          <a:prstGeom prst="roundRect">
            <a:avLst>
              <a:gd name="adj" fmla="val 1673"/>
            </a:avLst>
          </a:prstGeom>
          <a:solidFill>
            <a:srgbClr val="F3EFF6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589520" y="1783080"/>
            <a:ext cx="38249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3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LESSON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7589520" y="2240280"/>
            <a:ext cx="3824935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21D2B"/>
                </a:solidFill>
              </a:rPr>
              <a:t>Check the tracker for this pattern before starting a fresh RCA on a key/sequencing issue.</a:t>
            </a:r>
            <a:endParaRPr lang="en-US" sz="125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21D2B"/>
                </a:solidFill>
              </a:rPr>
              <a:t>Non-deterministic key generation is now a known class, not a surprise.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4A3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DEFECTS — AFFECTS 'ALL'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6692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21D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defects that hit every stream, not just one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298448"/>
            <a:ext cx="11185855" cy="0"/>
          </a:xfrm>
          <a:prstGeom prst="line">
            <a:avLst/>
          </a:prstGeom>
          <a:noFill/>
          <a:ln w="12700">
            <a:solidFill>
              <a:srgbClr val="E2E2E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645920"/>
            <a:ext cx="5410048" cy="4709160"/>
          </a:xfrm>
          <a:prstGeom prst="roundRect">
            <a:avLst>
              <a:gd name="adj" fmla="val 1553"/>
            </a:avLst>
          </a:prstGeom>
          <a:solidFill>
            <a:srgbClr val="4A3F5C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1828800"/>
            <a:ext cx="4952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Folder-structure change (Critical, Done)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423160"/>
            <a:ext cx="4952848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</a:rPr>
              <a:t>Teradata introduced new subfolders in its data export</a:t>
            </a:r>
            <a:endParaRPr lang="en-US" sz="1200" dirty="0"/>
          </a:p>
          <a:p>
            <a:pPr marL="342900" indent="-3429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</a:rPr>
              <a:t>The data_load utility failed to iterate sub-folders — developers had to manually create recon tables and load data</a:t>
            </a:r>
            <a:endParaRPr lang="en-US" sz="1200" dirty="0"/>
          </a:p>
          <a:p>
            <a:pPr marL="342900" indent="-3429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</a:rPr>
              <a:t>16 hours, 3 days to resolve across all affected streams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278728" y="1645920"/>
            <a:ext cx="5410048" cy="4709160"/>
          </a:xfrm>
          <a:prstGeom prst="roundRect">
            <a:avLst>
              <a:gd name="adj" fmla="val 1553"/>
            </a:avLst>
          </a:prstGeom>
          <a:solidFill>
            <a:srgbClr val="F3EFF6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507328" y="1828800"/>
            <a:ext cx="4952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A3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Berlin → UTC timestamp conversion (Critical, Done)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6507328" y="2423160"/>
            <a:ext cx="4952848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21D2B"/>
                </a:solidFill>
              </a:rPr>
              <a:t>Data exported by Teradata had all timestamp columns converted from Berlin/Europe to UTC, impacting data validation</a:t>
            </a:r>
            <a:endParaRPr lang="en-US" sz="1200" dirty="0"/>
          </a:p>
          <a:p>
            <a:pPr marL="342900" indent="-3429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21D2B"/>
                </a:solidFill>
              </a:rPr>
              <a:t>Required additional casting during data load — which still resulted in minute deviations</a:t>
            </a:r>
            <a:endParaRPr lang="en-US" sz="1200" dirty="0"/>
          </a:p>
          <a:p>
            <a:pPr marL="342900" indent="-3429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21D2B"/>
                </a:solidFill>
              </a:rPr>
              <a:t>24 hours, 4 days — this is the same defect class covered in the Conversion Rulebook (TIMESTAMP_NTZ)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4A3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 WORTH WATCHING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6692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21D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Stream-native emails: 100 hours, 60 days, still open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298448"/>
            <a:ext cx="11185855" cy="0"/>
          </a:xfrm>
          <a:prstGeom prst="line">
            <a:avLst/>
          </a:prstGeom>
          <a:noFill/>
          <a:ln w="12700">
            <a:solidFill>
              <a:srgbClr val="E2E2E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02920" y="1600200"/>
            <a:ext cx="11185855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221D2B"/>
                </a:solidFill>
              </a:rPr>
              <a:t>Logged as an Architecture Discussion, not a defect — the question is how to send stream-native emails at all.</a:t>
            </a:r>
            <a:endParaRPr lang="en-US" sz="150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221D2B"/>
                </a:solidFill>
              </a:rPr>
              <a:t>Three different approaches have already been proposed and worked through, and shown to Lufthansa — none accepted, requiring multiple iterations and discussions.</a:t>
            </a:r>
            <a:endParaRPr lang="en-US" sz="150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221D2B"/>
                </a:solidFill>
              </a:rPr>
              <a:t>At 100 hours and 60 days, this is by far the largest single item in the tracker — roughly 37% of all effort logged across all 18 items.</a:t>
            </a:r>
            <a:endParaRPr lang="en-US" sz="150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221D2B"/>
                </a:solidFill>
              </a:rPr>
              <a:t>This is a design-decision bottleneck, not an engineering one — escalate for a decision rather than continuing to iterate on new approaches.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4A3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6692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21D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INT_BOARDED_PAX — when the bug isn't yours to fix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298448"/>
            <a:ext cx="11185855" cy="0"/>
          </a:xfrm>
          <a:prstGeom prst="line">
            <a:avLst/>
          </a:prstGeom>
          <a:noFill/>
          <a:ln w="12700">
            <a:solidFill>
              <a:srgbClr val="E2E2E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02920" y="1600200"/>
            <a:ext cx="11185855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221D2B"/>
                </a:solidFill>
              </a:rPr>
              <a:t>The Teradata stream had been generating erroneous output for three years before Databricks even started converting it.</a:t>
            </a:r>
            <a:endParaRPr lang="en-US" sz="150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221D2B"/>
                </a:solidFill>
              </a:rPr>
              <a:t>When the code errors were highlighted to Lufthansa as an in-scope stream issue, the response was that the same issue had been occurring for three years with no changes implemented in that time.</a:t>
            </a:r>
            <a:endParaRPr lang="en-US" sz="150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221D2B"/>
                </a:solidFill>
              </a:rPr>
              <a:t>Resolution: Lufthansa marked the stream Out of Scope, and a change board ticket was raised — this is not something the migration team can or should fix silently.</a:t>
            </a:r>
            <a:endParaRPr lang="en-US" sz="150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221D2B"/>
                </a:solidFill>
              </a:rPr>
              <a:t>Takeaway: a mismatch against Teradata isn't automatically a migration defect. Sometimes Databricks is correctly reproducing a Teradata bug that predates the project.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4A3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6692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21D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to log a new item — and when to escalate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298448"/>
            <a:ext cx="11185855" cy="0"/>
          </a:xfrm>
          <a:prstGeom prst="line">
            <a:avLst/>
          </a:prstGeom>
          <a:noFill/>
          <a:ln w="12700">
            <a:solidFill>
              <a:srgbClr val="E2E2E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737360"/>
            <a:ext cx="502920" cy="502920"/>
          </a:xfrm>
          <a:prstGeom prst="ellipse">
            <a:avLst/>
          </a:prstGeom>
          <a:solidFill>
            <a:srgbClr val="4A3F5C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02920" y="1737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188720" y="1673352"/>
            <a:ext cx="46785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21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for the pattern first</a:t>
            </a:r>
            <a:endParaRPr lang="en-US" sz="1450" dirty="0"/>
          </a:p>
        </p:txBody>
      </p:sp>
      <p:sp>
        <p:nvSpPr>
          <p:cNvPr id="8" name="Text 6"/>
          <p:cNvSpPr txBox="1"/>
          <p:nvPr/>
        </p:nvSpPr>
        <p:spPr>
          <a:xfrm>
            <a:off x="1188720" y="1993392"/>
            <a:ext cx="467852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starting a fresh RCA, scan the tracker for a similar description, stream type, or root cause — the surrogate-key pattern was raised three times before anyone noticed it was one issue.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324448" y="1737360"/>
            <a:ext cx="502920" cy="502920"/>
          </a:xfrm>
          <a:prstGeom prst="ellipse">
            <a:avLst/>
          </a:prstGeom>
          <a:solidFill>
            <a:srgbClr val="D4A373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324448" y="1737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7010248" y="1673352"/>
            <a:ext cx="46785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21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every required column</a:t>
            </a:r>
            <a:endParaRPr lang="en-US" sz="1450" dirty="0"/>
          </a:p>
        </p:txBody>
      </p:sp>
      <p:sp>
        <p:nvSpPr>
          <p:cNvPr id="12" name="Text 10"/>
          <p:cNvSpPr txBox="1"/>
          <p:nvPr/>
        </p:nvSpPr>
        <p:spPr>
          <a:xfrm>
            <a:off x="7010248" y="1993392"/>
            <a:ext cx="467852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Community, Squad, Stream, Type, Description, Priority, and Owner at minimum — Effort and Timeline once the item closes.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02920" y="3154680"/>
            <a:ext cx="502920" cy="502920"/>
          </a:xfrm>
          <a:prstGeom prst="ellipse">
            <a:avLst/>
          </a:prstGeom>
          <a:solidFill>
            <a:srgbClr val="8C2E2E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02920" y="3154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1188720" y="3090672"/>
            <a:ext cx="46785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21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Escalate Critical items immediately</a:t>
            </a:r>
            <a:endParaRPr lang="en-US" sz="1450" dirty="0"/>
          </a:p>
        </p:txBody>
      </p:sp>
      <p:sp>
        <p:nvSpPr>
          <p:cNvPr id="16" name="Text 14"/>
          <p:cNvSpPr txBox="1"/>
          <p:nvPr/>
        </p:nvSpPr>
        <p:spPr>
          <a:xfrm>
            <a:off x="1188720" y="3410712"/>
            <a:ext cx="467852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just log and wait — a Critical item (like the folder-structure or timestamp defects) affects every stream and needs immediate visibility beyond the tracker.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221D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14255" y="-1280160"/>
            <a:ext cx="3657600" cy="3657600"/>
          </a:xfrm>
          <a:prstGeom prst="ellipse">
            <a:avLst/>
          </a:prstGeom>
          <a:solidFill>
            <a:srgbClr val="4A3F5C">
              <a:alpha val="45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5486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D4A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86868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Cheat-sheet for using the tracker well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02920" y="1874520"/>
            <a:ext cx="365760" cy="365760"/>
          </a:xfrm>
          <a:prstGeom prst="ellipse">
            <a:avLst/>
          </a:prstGeom>
          <a:solidFill>
            <a:srgbClr val="D4A373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02920" y="18745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21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1828800"/>
            <a:ext cx="48614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shared tracker across all pods — check it before opening a new investigation.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02920" y="2743200"/>
            <a:ext cx="365760" cy="365760"/>
          </a:xfrm>
          <a:prstGeom prst="ellipse">
            <a:avLst/>
          </a:prstGeom>
          <a:solidFill>
            <a:srgbClr val="D4A373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02920" y="2743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21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005840" y="2697480"/>
            <a:ext cx="48614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of 18 items are Done; 272 hours logged to date; average ~15 hrs/item, but the spread is wide.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02920" y="3611880"/>
            <a:ext cx="365760" cy="365760"/>
          </a:xfrm>
          <a:prstGeom prst="ellipse">
            <a:avLst/>
          </a:prstGeom>
          <a:solidFill>
            <a:srgbClr val="D4A373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02920" y="36118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21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1005840" y="3566160"/>
            <a:ext cx="48614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Teradata Defect is the dominant type (16 of 18) — CRs and architecture discussions are rarer but often bigger.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02920" y="4480560"/>
            <a:ext cx="365760" cy="365760"/>
          </a:xfrm>
          <a:prstGeom prst="ellipse">
            <a:avLst/>
          </a:prstGeom>
          <a:solidFill>
            <a:srgbClr val="D4A373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02920" y="44805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21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1005840" y="4434840"/>
            <a:ext cx="48614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Non-deterministic surrogate key generation has already hit 3 communities independently — treat it as a known class.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324448" y="1874520"/>
            <a:ext cx="365760" cy="365760"/>
          </a:xfrm>
          <a:prstGeom prst="ellipse">
            <a:avLst/>
          </a:prstGeom>
          <a:solidFill>
            <a:srgbClr val="D4A373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324448" y="18745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21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6827368" y="1828800"/>
            <a:ext cx="48614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Critical defects (folder structure, Berlin→UTC timestamps) affect every stream, not just one.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324448" y="2743200"/>
            <a:ext cx="365760" cy="365760"/>
          </a:xfrm>
          <a:prstGeom prst="ellipse">
            <a:avLst/>
          </a:prstGeom>
          <a:solidFill>
            <a:srgbClr val="D4A373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324448" y="2743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21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6827368" y="2697480"/>
            <a:ext cx="48614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stream-native email discussion alone accounts for ~37% of all effort logged — it needs a decision, not more iteration.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324448" y="3611880"/>
            <a:ext cx="365760" cy="365760"/>
          </a:xfrm>
          <a:prstGeom prst="ellipse">
            <a:avLst/>
          </a:prstGeom>
          <a:solidFill>
            <a:srgbClr val="D4A373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6324448" y="36118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21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6827368" y="3566160"/>
            <a:ext cx="48614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every mismatch is a migration bug — INT_BOARDED_PAX shows Lufthansa can and will mark a stream Out of Scope.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324448" y="4480560"/>
            <a:ext cx="365760" cy="365760"/>
          </a:xfrm>
          <a:prstGeom prst="ellipse">
            <a:avLst/>
          </a:prstGeom>
          <a:solidFill>
            <a:srgbClr val="D4A373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6324448" y="44805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21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6827368" y="4434840"/>
            <a:ext cx="48614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Community/Squad/Stream/Type/Priority/Owner at minimum, and escalate Critical items immediately, not just in the tracker.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2026-09-06T17:38:57Z</dcterms:created>
  <dcterms:modified xsi:type="dcterms:W3CDTF">2026-09-06T17:38:57Z</dcterms:modified>
</cp:coreProperties>
</file>