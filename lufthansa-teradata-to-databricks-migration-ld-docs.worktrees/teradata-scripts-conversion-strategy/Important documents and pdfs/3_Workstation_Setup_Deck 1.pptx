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1200000">
            <a:off x="9692640" y="-1097280"/>
            <a:ext cx="4572000" cy="4572000"/>
          </a:xfrm>
          <a:prstGeom prst="roundRect">
            <a:avLst>
              <a:gd name="adj" fmla="val 10000"/>
            </a:avLst>
          </a:prstGeom>
          <a:solidFill>
            <a:srgbClr val="1F2E4D"/>
          </a:solidFill>
          <a:ln/>
        </p:spPr>
      </p:sp>
      <p:sp>
        <p:nvSpPr>
          <p:cNvPr id="3" name="Shape 1"/>
          <p:cNvSpPr/>
          <p:nvPr/>
        </p:nvSpPr>
        <p:spPr>
          <a:xfrm rot="1200000">
            <a:off x="10607040" y="4206240"/>
            <a:ext cx="3657600" cy="3657600"/>
          </a:xfrm>
          <a:prstGeom prst="roundRect">
            <a:avLst>
              <a:gd name="adj" fmla="val 12500"/>
            </a:avLst>
          </a:prstGeom>
          <a:solidFill>
            <a:srgbClr val="263457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502920" cy="82296"/>
          </a:xfrm>
          <a:prstGeom prst="rect">
            <a:avLst/>
          </a:prstGeom>
          <a:solidFill>
            <a:srgbClr val="FF362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554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LUFTHANSA GROUP DATA MIGRATION PROGRAM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10515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Workstation Setup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48640" y="333756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F0B8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to First Validated Commit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48640" y="397764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AA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Recorded August 31, 2026, 1:02 PM · Led by Dinesh Kundnani &amp; Bhavesh Sharma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48640" y="5074920"/>
            <a:ext cx="8778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50" dirty="0">
                <a:solidFill>
                  <a:srgbClr val="8FA0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Joiner Enablement — a standalone learning deck built from this session's recording. Covers what was taught, the key technical concepts, and the open questions raised live on the call.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8D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WORKSTATION SETUP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 access &amp; structure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17233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72768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3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ODP-W repository (Azure Repos)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1920240"/>
            <a:ext cx="10607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all Databricks Asset Bundle code, organized into subdomains — you may work in one or several depending on your squad.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611880" cy="594360"/>
          </a:xfrm>
          <a:prstGeom prst="roundRect">
            <a:avLst>
              <a:gd name="adj" fmla="val 9231"/>
            </a:avLst>
          </a:prstGeom>
          <a:solidFill>
            <a:srgbClr val="F5F6F8"/>
          </a:solidFill>
          <a:ln w="12700">
            <a:solidFill>
              <a:srgbClr val="E1E4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274320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ADW core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97680" y="2743200"/>
            <a:ext cx="3611880" cy="594360"/>
          </a:xfrm>
          <a:prstGeom prst="roundRect">
            <a:avLst>
              <a:gd name="adj" fmla="val 9231"/>
            </a:avLst>
          </a:prstGeom>
          <a:solidFill>
            <a:srgbClr val="F5F6F8"/>
          </a:solidFill>
          <a:ln w="12700">
            <a:solidFill>
              <a:srgbClr val="E1E4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297680" y="274320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46720" y="2743200"/>
            <a:ext cx="3611880" cy="594360"/>
          </a:xfrm>
          <a:prstGeom prst="roundRect">
            <a:avLst>
              <a:gd name="adj" fmla="val 9231"/>
            </a:avLst>
          </a:prstGeom>
          <a:solidFill>
            <a:srgbClr val="F5F6F8"/>
          </a:solidFill>
          <a:ln w="12700">
            <a:solidFill>
              <a:srgbClr val="E1E4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0" y="274320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&amp; Network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474720"/>
            <a:ext cx="3611880" cy="594360"/>
          </a:xfrm>
          <a:prstGeom prst="roundRect">
            <a:avLst>
              <a:gd name="adj" fmla="val 9231"/>
            </a:avLst>
          </a:prstGeom>
          <a:solidFill>
            <a:srgbClr val="F5F6F8"/>
          </a:solidFill>
          <a:ln w="12700">
            <a:solidFill>
              <a:srgbClr val="E1E4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347472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PPL Reservation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297680" y="3474720"/>
            <a:ext cx="3611880" cy="594360"/>
          </a:xfrm>
          <a:prstGeom prst="roundRect">
            <a:avLst>
              <a:gd name="adj" fmla="val 9231"/>
            </a:avLst>
          </a:prstGeom>
          <a:solidFill>
            <a:srgbClr val="F5F6F8"/>
          </a:solidFill>
          <a:ln w="12700">
            <a:solidFill>
              <a:srgbClr val="E1E4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0" y="347472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 Sales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046720" y="3474720"/>
            <a:ext cx="3611880" cy="594360"/>
          </a:xfrm>
          <a:prstGeom prst="roundRect">
            <a:avLst>
              <a:gd name="adj" fmla="val 9231"/>
            </a:avLst>
          </a:prstGeom>
          <a:solidFill>
            <a:srgbClr val="F5F6F8"/>
          </a:solidFill>
          <a:ln w="12700">
            <a:solidFill>
              <a:srgbClr val="E1E4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0" y="3474720"/>
            <a:ext cx="36118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Squad One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44348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access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48640" y="4800600"/>
            <a:ext cx="1088136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Access is tied to your LHID (Lufthansa ID).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joiners without one yet raise an access ticket with the client so their LHID gets repo permissions.
</a:t>
            </a:r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Clone locally: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the repo HTTPS URL, generate Git credentials, and clone into your VS Code project folder.
</a:t>
            </a:r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Confirm access: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subdomain folder is visible to you in the repo, your LHID has the right permission for it.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8D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WORKSTATION SETUP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Databricks CLI cheat sheet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64240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3931920"/>
                <a:gridCol w="49377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Command / action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233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Install the CLI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36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brew install databricks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Match the latest stable version across the team.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 profile per environment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36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databricks auth login --host &lt;url&gt;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Most devs keep 2 dev profiles + 1 pre-prod profile.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 you're authenticated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36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databricks auth profiles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“YES” under Valid once logged in from this machine.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 your bundle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36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databricks bundle validate --profile &lt;name&gt;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Catches config errors before you deploy anything.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 for local testing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36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databricks bundle deploy --profile &lt;name&gt;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Deploys jobs under your own username, in isolation.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723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Tear down when done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3621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databricks bundle destroy</a:t>
                      </a:r>
                      <a:endParaRPr lang="en-US" sz="10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32B3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Deletes what you deployed — confirm with “y”.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1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comment out jobs you're not actively testing inside databricks.yml — bundle deploy only creates what's uncommented, saving time and workspace clutter.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8D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WORKSTATION SETUP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 Code extensions &amp; pre-commit hooks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5394960" cy="2286000"/>
          </a:xfrm>
          <a:prstGeom prst="roundRect">
            <a:avLst>
              <a:gd name="adj" fmla="val 3200"/>
            </a:avLst>
          </a:prstGeom>
          <a:solidFill>
            <a:srgbClr val="17233B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00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3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VS Code setup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77240" y="20116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Databricks extension — required for bundle &amp; connection support
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Python extension — latest version recommended
</a:t>
            </a:r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Other extensions in the team's extension section are optional add-ons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26480" y="1463040"/>
            <a:ext cx="5486400" cy="2286000"/>
          </a:xfrm>
          <a:prstGeom prst="roundRect">
            <a:avLst>
              <a:gd name="adj" fmla="val 3200"/>
            </a:avLst>
          </a:prstGeom>
          <a:solidFill>
            <a:srgbClr val="F5F6F8"/>
          </a:solidFill>
          <a:ln w="12700">
            <a:solidFill>
              <a:srgbClr val="E1E4E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355080" y="16002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Pre-commit hooks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355080" y="2011680"/>
            <a:ext cx="5029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F3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pip install pre-commit
</a:t>
            </a:r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F3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pre-commit install
</a:t>
            </a:r>
            <a:pPr indent="0" marL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F3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pre-commit run --all-files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355080" y="2926080"/>
            <a:ext cx="5029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locally before you raise a PR — the same checks also run automatically as part of the PR pipeline, so running early just saves you a failed check later.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9776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exactly should I run pre-commit?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43434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 live: run it locally any time before opening a pull request. It isn't a one-time setup step — run it again whenever you've made further changes, since it also re-runs automatically at PR time regardless.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8D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WORKSTATION SETUP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TROUBLESHOOTING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Fixing the common HTTP connection error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Symptom: pre-commit or CLI calls fail with an HTTP connection host error (e.g. a blocked port). This is the single most common issue new developers hit.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11064240" cy="2377440"/>
          </a:xfrm>
          <a:prstGeom prst="roundRect">
            <a:avLst>
              <a:gd name="adj" fmla="val 3077"/>
            </a:avLst>
          </a:prstGeom>
          <a:solidFill>
            <a:srgbClr val="F5F6F8"/>
          </a:solidFill>
          <a:ln w="12700">
            <a:solidFill>
              <a:srgbClr val="E1E4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2194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Fix: run a documented sequence of six commands, in order (shared with the team in chat / documentation).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2606040"/>
            <a:ext cx="10515600" cy="1691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Run the first setup command in the sequence.
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If it still can't connect, expect a “could not connect / port blocked” message — that's expected mid-sequence, keep going.
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When prompted for a password, use your Databricks laptop password — </a:t>
            </a:r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your LHID password.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Entering the wrong one is the #1 reason this fails.
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4–5.  Continue running the remaining commands in the documented order.
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Re-run 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FF3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pre-commit run --all-files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every check should now show green / passed.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48640" y="466344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 hit a different error after these six commands, don't guess — loop in Dinesh / your pod lead so it can be diagnosed live; this issue is rare outside the standard scenario above.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8D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WORKSTATION SETUP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Codex agent &amp; skill files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50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is the project's AI code-review/automation agent — access and an API key are provided by Lufthansa. “Skills” are how you give it reusable, structured instructions for a specific job.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5394960" cy="2148840"/>
          </a:xfrm>
          <a:prstGeom prst="roundRect">
            <a:avLst>
              <a:gd name="adj" fmla="val 3404"/>
            </a:avLst>
          </a:prstGeom>
          <a:solidFill>
            <a:srgbClr val="17233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2860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3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skill file has two folders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777240" y="2697480"/>
            <a:ext cx="493776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7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agent/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may contain a YAML config plus the prompts that drive the agent's behavior.
</a:t>
            </a:r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E7E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references/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the complete workflow reference: SKILL.md, defining the objective, the rules, and the step-by-step instructions.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26480" y="214884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F5F6F8"/>
          </a:solidFill>
          <a:ln w="12700">
            <a:solidFill>
              <a:srgbClr val="E1E4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55080" y="228600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Managing skills from Codex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355080" y="2651760"/>
            <a:ext cx="50292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List installed skills — shows what's already configured for you.
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Enable / disable a skill — turn a specific skill on or off as needed.
</a:t>
            </a:r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Two skills exist today: SQL Migration Audit (next slide) and a Codex install/config reference — shared with the team by document, not on the CT tenant (it contains credentials).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48640" y="45720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Codex fits in your daily loop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48640" y="49377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3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converting a script, run Codex for a logic-parity check, a code-quality check, and any quick fixes/optimizations — before you move on to unit testing and reconciliation.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8D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WORKSTATION SETUP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Deep-dive: the SQL Migration Audit skill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Inputs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566160" cy="1280160"/>
          </a:xfrm>
          <a:prstGeom prst="roundRect">
            <a:avLst>
              <a:gd name="adj" fmla="val 5714"/>
            </a:avLst>
          </a:prstGeom>
          <a:solidFill>
            <a:srgbClr val="F5F6F8"/>
          </a:solidFill>
          <a:ln w="12700">
            <a:solidFill>
              <a:srgbClr val="E1E4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87452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3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source_dir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path to the original Teradata code
</a:t>
            </a:r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36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target_dir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path to the converted Databricks code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343400" y="1417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Runtime &amp; output format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343400" y="1737360"/>
            <a:ext cx="3566160" cy="1280160"/>
          </a:xfrm>
          <a:prstGeom prst="roundRect">
            <a:avLst>
              <a:gd name="adj" fmla="val 5714"/>
            </a:avLst>
          </a:prstGeom>
          <a:solidFill>
            <a:srgbClr val="F5F6F8"/>
          </a:solidFill>
          <a:ln w="12700">
            <a:solidFill>
              <a:srgbClr val="E1E4E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187452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~8–10 minutes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generate
</a:t>
            </a:r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report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covers SQL scripts only, not Python (Python conversions are audited separately)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13816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to run it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138160" y="1737360"/>
            <a:ext cx="3474720" cy="1280160"/>
          </a:xfrm>
          <a:prstGeom prst="roundRect">
            <a:avLst>
              <a:gd name="adj" fmla="val 5714"/>
            </a:avLst>
          </a:prstGeom>
          <a:solidFill>
            <a:srgbClr val="FF3621"/>
          </a:solidFill>
          <a:ln/>
        </p:spPr>
      </p:sp>
      <p:sp>
        <p:nvSpPr>
          <p:cNvPr id="12" name="Text 10"/>
          <p:cNvSpPr/>
          <p:nvPr/>
        </p:nvSpPr>
        <p:spPr>
          <a:xfrm>
            <a:off x="8366760" y="1847088"/>
            <a:ext cx="3108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before development starts, and once after development completes — both times, before you raise the PR.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24612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report tells you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7233B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73075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3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metrics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731520" y="4096512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streams processed and number of SQL queries audited.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297680" y="361188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7233B"/>
          </a:solidFill>
          <a:ln/>
        </p:spPr>
      </p:sp>
      <p:sp>
        <p:nvSpPr>
          <p:cNvPr id="18" name="Text 16"/>
          <p:cNvSpPr/>
          <p:nvPr/>
        </p:nvSpPr>
        <p:spPr>
          <a:xfrm>
            <a:off x="4480560" y="373075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3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Completeness score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4480560" y="4096512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per-notebook score based on the original header logic vs. the migrated code.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046720" y="3611880"/>
            <a:ext cx="3611880" cy="1417320"/>
          </a:xfrm>
          <a:prstGeom prst="roundRect">
            <a:avLst>
              <a:gd name="adj" fmla="val 5161"/>
            </a:avLst>
          </a:prstGeom>
          <a:solidFill>
            <a:srgbClr val="17233B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0" y="373075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3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Per-notebook detail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8229600" y="4096512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 name + summary; for each finding, the expected logic, the actual logic, and a suggested fix.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48640" y="52578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i="1" dirty="0">
                <a:solidFill>
                  <a:srgbClr val="5C72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judgment still applies: review the suggested fix against the source logic yourself before you accept it — the audit surfaces candidates, it doesn't auto-approve them.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8D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WORKSTATION SETUP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DISCUSSION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 points &amp; open questions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5F6F8"/>
          </a:solidFill>
          <a:ln w="12700">
            <a:solidFill>
              <a:srgbClr val="E1E4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554480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7233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544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3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50876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“Could this setup fail differently on some devices?”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280160" y="1874520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Generally no — the six-command sequence covers nearly every case the team has seen. If you hit something different, reach out directly to Dinesh (or your pod lead) so it can be resolved 1:1 rather than assuming a workaround.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2542032"/>
            <a:ext cx="11064240" cy="1005840"/>
          </a:xfrm>
          <a:prstGeom prst="roundRect">
            <a:avLst>
              <a:gd name="adj" fmla="val 7273"/>
            </a:avLst>
          </a:prstGeom>
          <a:solidFill>
            <a:srgbClr val="F5F6F8"/>
          </a:solidFill>
          <a:ln w="12700">
            <a:solidFill>
              <a:srgbClr val="E1E4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31520" y="2679192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7233B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267919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3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2633472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“How often should I re-run pre-commit — before every PR, or once?”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1280160" y="2999232"/>
            <a:ext cx="10149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raising any PR, not just once at setup. It's also enforced automatically inside the PR pipeline, so running it locally first is about catching issues early, not a required gate you satisfy only once.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712464"/>
            <a:ext cx="11064240" cy="960120"/>
          </a:xfrm>
          <a:prstGeom prst="roundRect">
            <a:avLst>
              <a:gd name="adj" fmla="val 7619"/>
            </a:avLst>
          </a:prstGeom>
          <a:solidFill>
            <a:srgbClr val="F5F6F8"/>
          </a:solidFill>
          <a:ln w="12700">
            <a:solidFill>
              <a:srgbClr val="E1E4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849624"/>
            <a:ext cx="384048" cy="384048"/>
          </a:xfrm>
          <a:prstGeom prst="roundRect">
            <a:avLst>
              <a:gd name="adj" fmla="val 14286"/>
            </a:avLst>
          </a:prstGeom>
          <a:solidFill>
            <a:srgbClr val="17233B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84962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36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280160" y="3803904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“Where do I get my API key / how do I get it updated?”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280160" y="4169664"/>
            <a:ext cx="10149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50"/>
              </a:lnSpc>
              <a:buNone/>
            </a:pPr>
            <a:r>
              <a:rPr lang="en-US" sz="12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 out to Bhavesh (or your pod lead) directly — API key issuance and updates for Codex are handled individually, and any bugs hitting report generation should be reported to him as well.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8D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WORKSTATION SETUP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723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Glossary: Session 3 terms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LHID —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Lufthansa ID — required for repo, Databricks, and system access.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ODP-W repo —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Azure Repos project holding all Databricks Asset Bundle code.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315468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bundle —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deployable unit defined in databricks.yml; validate/deploy/destroy.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393192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Databricks CLI profile —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named auth/connection config for one environment (dev, pre-prod).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63640" y="160020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Pre-commit hooks —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checks (lint/format/etc.) run before a PR; also enforced in CI.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263640" y="237744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Codex —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project's AI review/automation agent, driven by “skill” files.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263640" y="315468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file —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reusable instruction set for Codex: an agent/ folder + a references/ folder with SKILL.md.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63640" y="3931920"/>
            <a:ext cx="53949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723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Migration Audit — </a:t>
            </a:r>
            <a:pPr indent="0" marL="0">
              <a:lnSpc>
                <a:spcPts val="1500"/>
              </a:lnSpc>
              <a:buNone/>
            </a:pPr>
            <a:r>
              <a:rPr lang="en-US" sz="1200" dirty="0">
                <a:solidFill>
                  <a:srgbClr val="232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Codex skill that scores conversion completeness and suggests fixes.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8D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WORKSTATION SETUP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723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900000">
            <a:off x="9966960" y="5120640"/>
            <a:ext cx="3657600" cy="3657600"/>
          </a:xfrm>
          <a:prstGeom prst="roundRect">
            <a:avLst>
              <a:gd name="adj" fmla="val 10000"/>
            </a:avLst>
          </a:prstGeom>
          <a:solidFill>
            <a:srgbClr val="1F2E4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FF3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IT TOGETHER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Workstation Setup checklist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618488"/>
            <a:ext cx="320040" cy="320040"/>
          </a:xfrm>
          <a:prstGeom prst="ellipse">
            <a:avLst/>
          </a:prstGeom>
          <a:solidFill>
            <a:srgbClr val="FF3621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61848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51560" y="155448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your LHID and repo access (ODP-W); clone the relevant subdomain locally.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320040" cy="320040"/>
          </a:xfrm>
          <a:prstGeom prst="ellipse">
            <a:avLst/>
          </a:prstGeom>
          <a:solidFill>
            <a:srgbClr val="FF362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2402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51560" y="2176272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&amp; authenticate the Databricks CLI; set up dev + pre-prod profiles.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862072"/>
            <a:ext cx="320040" cy="320040"/>
          </a:xfrm>
          <a:prstGeom prst="ellipse">
            <a:avLst/>
          </a:prstGeom>
          <a:solidFill>
            <a:srgbClr val="FF3621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8620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51560" y="2798064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Databricks + Python VS Code extensions; install and run pre-commit.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483864"/>
            <a:ext cx="320040" cy="320040"/>
          </a:xfrm>
          <a:prstGeom prst="ellipse">
            <a:avLst/>
          </a:prstGeom>
          <a:solidFill>
            <a:srgbClr val="FF362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48386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51560" y="3419856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6-command fix for HTTP connection errors — and to use your laptop password, not your LHID password.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105656"/>
            <a:ext cx="320040" cy="320040"/>
          </a:xfrm>
          <a:prstGeom prst="ellipse">
            <a:avLst/>
          </a:prstGeom>
          <a:solidFill>
            <a:srgbClr val="FF3621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10565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51560" y="4041648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Codex access + your API key; review the SQL Migration Audit skill before your first conversion.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4727448"/>
            <a:ext cx="320040" cy="320040"/>
          </a:xfrm>
          <a:prstGeom prst="ellipse">
            <a:avLst/>
          </a:prstGeom>
          <a:solidFill>
            <a:srgbClr val="FF362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472744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51560" y="4663440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300" dirty="0">
                <a:solidFill>
                  <a:srgbClr val="E7E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 any open question from this deck's “Discussion” slide to Dinesh, Bhavesh, or your pod lead.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48640" y="5559552"/>
            <a:ext cx="8961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00" i="1" dirty="0">
                <a:solidFill>
                  <a:srgbClr val="AAB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deck covers Session 3 only. Two companion decks are available: Program Overview (structure) and POD Lead Hour (utilities &amp; workflow).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rgbClr val="8D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3 · WORKSTATION SETUP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D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2026-09-01T07:39:13Z</dcterms:created>
  <dcterms:modified xsi:type="dcterms:W3CDTF">2026-09-01T07:39:13Z</dcterms:modified>
</cp:coreProperties>
</file>