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233B"/>
        </a:solidFill>
      </p:bgPr>
    </p:bg>
    <p:spTree>
      <p:nvGrpSpPr>
        <p:cNvPr id="1" name=""/>
        <p:cNvGrpSpPr/>
        <p:nvPr/>
      </p:nvGrpSpPr>
      <p:grpSpPr>
        <a:xfrm>
          <a:off x="0" y="0"/>
          <a:ext cx="0" cy="0"/>
          <a:chOff x="0" y="0"/>
          <a:chExt cx="0" cy="0"/>
        </a:xfrm>
      </p:grpSpPr>
      <p:sp>
        <p:nvSpPr>
          <p:cNvPr id="2" name="Shape 0"/>
          <p:cNvSpPr/>
          <p:nvPr/>
        </p:nvSpPr>
        <p:spPr>
          <a:xfrm rot="1200000">
            <a:off x="9692640" y="-1097280"/>
            <a:ext cx="4572000" cy="4572000"/>
          </a:xfrm>
          <a:prstGeom prst="roundRect">
            <a:avLst>
              <a:gd name="adj" fmla="val 10000"/>
            </a:avLst>
          </a:prstGeom>
          <a:solidFill>
            <a:srgbClr val="1F2E4D"/>
          </a:solidFill>
          <a:ln/>
        </p:spPr>
      </p:sp>
      <p:sp>
        <p:nvSpPr>
          <p:cNvPr id="3" name="Shape 1"/>
          <p:cNvSpPr/>
          <p:nvPr/>
        </p:nvSpPr>
        <p:spPr>
          <a:xfrm rot="1200000">
            <a:off x="10607040" y="4206240"/>
            <a:ext cx="3657600" cy="3657600"/>
          </a:xfrm>
          <a:prstGeom prst="roundRect">
            <a:avLst>
              <a:gd name="adj" fmla="val 12500"/>
            </a:avLst>
          </a:prstGeom>
          <a:solidFill>
            <a:srgbClr val="263457"/>
          </a:solidFill>
          <a:ln/>
        </p:spPr>
      </p:sp>
      <p:sp>
        <p:nvSpPr>
          <p:cNvPr id="4" name="Shape 2"/>
          <p:cNvSpPr/>
          <p:nvPr/>
        </p:nvSpPr>
        <p:spPr>
          <a:xfrm>
            <a:off x="548640" y="1417320"/>
            <a:ext cx="502920" cy="82296"/>
          </a:xfrm>
          <a:prstGeom prst="rect">
            <a:avLst/>
          </a:prstGeom>
          <a:solidFill>
            <a:srgbClr val="FF3621"/>
          </a:solidFill>
          <a:ln/>
        </p:spPr>
      </p:sp>
      <p:sp>
        <p:nvSpPr>
          <p:cNvPr id="5" name="Text 3"/>
          <p:cNvSpPr/>
          <p:nvPr/>
        </p:nvSpPr>
        <p:spPr>
          <a:xfrm>
            <a:off x="548640" y="1554480"/>
            <a:ext cx="9601200" cy="365760"/>
          </a:xfrm>
          <a:prstGeom prst="rect">
            <a:avLst/>
          </a:prstGeom>
          <a:noFill/>
          <a:ln/>
        </p:spPr>
        <p:txBody>
          <a:bodyPr wrap="square" rtlCol="0" anchor="ctr"/>
          <a:lstStyle/>
          <a:p>
            <a:pPr indent="0" marL="0">
              <a:buNone/>
            </a:pPr>
            <a:r>
              <a:rPr lang="en-US" sz="1300" b="1" spc="130" kern="0" dirty="0">
                <a:solidFill>
                  <a:srgbClr val="CADCFC"/>
                </a:solidFill>
                <a:latin typeface="Calibri" pitchFamily="34" charset="0"/>
                <a:ea typeface="Calibri" pitchFamily="34" charset="-122"/>
                <a:cs typeface="Calibri" pitchFamily="34" charset="-120"/>
              </a:rPr>
              <a:t>LUFTHANSA GROUP DATA MIGRATION PROGRAM · NEW JOINER ENABLEMENT</a:t>
            </a:r>
            <a:endParaRPr lang="en-US" sz="1300" dirty="0"/>
          </a:p>
        </p:txBody>
      </p:sp>
      <p:sp>
        <p:nvSpPr>
          <p:cNvPr id="6" name="Text 4"/>
          <p:cNvSpPr/>
          <p:nvPr/>
        </p:nvSpPr>
        <p:spPr>
          <a:xfrm>
            <a:off x="548640" y="1965960"/>
            <a:ext cx="9144000" cy="365760"/>
          </a:xfrm>
          <a:prstGeom prst="rect">
            <a:avLst/>
          </a:prstGeom>
          <a:noFill/>
          <a:ln/>
        </p:spPr>
        <p:txBody>
          <a:bodyPr wrap="square" rtlCol="0" anchor="ctr"/>
          <a:lstStyle/>
          <a:p>
            <a:pPr indent="0" marL="0">
              <a:buNone/>
            </a:pPr>
            <a:r>
              <a:rPr lang="en-US" sz="1500" b="1" spc="200" kern="0" dirty="0">
                <a:solidFill>
                  <a:srgbClr val="FF3621"/>
                </a:solidFill>
                <a:latin typeface="Calibri" pitchFamily="34" charset="0"/>
                <a:ea typeface="Calibri" pitchFamily="34" charset="-122"/>
                <a:cs typeface="Calibri" pitchFamily="34" charset="-120"/>
              </a:rPr>
              <a:t>SESSION 2</a:t>
            </a:r>
            <a:endParaRPr lang="en-US" sz="1500" dirty="0"/>
          </a:p>
        </p:txBody>
      </p:sp>
      <p:sp>
        <p:nvSpPr>
          <p:cNvPr id="7" name="Text 5"/>
          <p:cNvSpPr/>
          <p:nvPr/>
        </p:nvSpPr>
        <p:spPr>
          <a:xfrm>
            <a:off x="548640" y="2423160"/>
            <a:ext cx="10515600" cy="1371600"/>
          </a:xfrm>
          <a:prstGeom prst="rect">
            <a:avLst/>
          </a:prstGeom>
          <a:noFill/>
          <a:ln/>
        </p:spPr>
        <p:txBody>
          <a:bodyPr wrap="square"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POD Lead Hour</a:t>
            </a:r>
            <a:endParaRPr lang="en-US" sz="4200" dirty="0"/>
          </a:p>
        </p:txBody>
      </p:sp>
      <p:sp>
        <p:nvSpPr>
          <p:cNvPr id="8" name="Text 6"/>
          <p:cNvSpPr/>
          <p:nvPr/>
        </p:nvSpPr>
        <p:spPr>
          <a:xfrm>
            <a:off x="548640" y="3703320"/>
            <a:ext cx="9601200" cy="548640"/>
          </a:xfrm>
          <a:prstGeom prst="rect">
            <a:avLst/>
          </a:prstGeom>
          <a:noFill/>
          <a:ln/>
        </p:spPr>
        <p:txBody>
          <a:bodyPr wrap="square" rtlCol="0" anchor="ctr"/>
          <a:lstStyle/>
          <a:p>
            <a:pPr indent="0" marL="0">
              <a:buNone/>
            </a:pPr>
            <a:r>
              <a:rPr lang="en-US" sz="1700" i="1" dirty="0">
                <a:solidFill>
                  <a:srgbClr val="AAB8D1"/>
                </a:solidFill>
                <a:latin typeface="Calibri" pitchFamily="34" charset="0"/>
                <a:ea typeface="Calibri" pitchFamily="34" charset="-122"/>
                <a:cs typeface="Calibri" pitchFamily="34" charset="-120"/>
              </a:rPr>
              <a:t>What I Wish I Knew in Week 1</a:t>
            </a:r>
            <a:endParaRPr lang="en-US" sz="1700" dirty="0"/>
          </a:p>
        </p:txBody>
      </p:sp>
      <p:sp>
        <p:nvSpPr>
          <p:cNvPr id="9" name="Text 7"/>
          <p:cNvSpPr/>
          <p:nvPr/>
        </p:nvSpPr>
        <p:spPr>
          <a:xfrm>
            <a:off x="548640" y="4206240"/>
            <a:ext cx="9601200" cy="457200"/>
          </a:xfrm>
          <a:prstGeom prst="rect">
            <a:avLst/>
          </a:prstGeom>
          <a:noFill/>
          <a:ln/>
        </p:spPr>
        <p:txBody>
          <a:bodyPr wrap="square" rtlCol="0" anchor="ctr"/>
          <a:lstStyle/>
          <a:p>
            <a:pPr indent="0" marL="0">
              <a:buNone/>
            </a:pPr>
            <a:r>
              <a:rPr lang="en-US" sz="1250" dirty="0">
                <a:solidFill>
                  <a:srgbClr val="7C8BAE"/>
                </a:solidFill>
                <a:latin typeface="Calibri" pitchFamily="34" charset="0"/>
                <a:ea typeface="Calibri" pitchFamily="34" charset="-122"/>
                <a:cs typeface="Calibri" pitchFamily="34" charset="-120"/>
              </a:rPr>
              <a:t>Recorded Aug 31, 2026, 10:03 AM · Led by Bulbul Parekh</a:t>
            </a:r>
            <a:endParaRPr lang="en-US" sz="1250" dirty="0"/>
          </a:p>
        </p:txBody>
      </p:sp>
      <p:sp>
        <p:nvSpPr>
          <p:cNvPr id="10" name="Text 8"/>
          <p:cNvSpPr/>
          <p:nvPr/>
        </p:nvSpPr>
        <p:spPr>
          <a:xfrm>
            <a:off x="548640" y="4892040"/>
            <a:ext cx="7315200" cy="320040"/>
          </a:xfrm>
          <a:prstGeom prst="rect">
            <a:avLst/>
          </a:prstGeom>
          <a:noFill/>
          <a:ln/>
        </p:spPr>
        <p:txBody>
          <a:bodyPr wrap="square"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What's inside this deck</a:t>
            </a:r>
            <a:endParaRPr lang="en-US" sz="1300" dirty="0"/>
          </a:p>
        </p:txBody>
      </p:sp>
      <p:sp>
        <p:nvSpPr>
          <p:cNvPr id="11" name="Text 9"/>
          <p:cNvSpPr/>
          <p:nvPr/>
        </p:nvSpPr>
        <p:spPr>
          <a:xfrm>
            <a:off x="457200" y="6519672"/>
            <a:ext cx="7315200" cy="274320"/>
          </a:xfrm>
          <a:prstGeom prst="rect">
            <a:avLst/>
          </a:prstGeom>
          <a:noFill/>
          <a:ln/>
        </p:spPr>
        <p:txBody>
          <a:bodyPr wrap="square" rtlCol="0" anchor="ctr"/>
          <a:lstStyle/>
          <a:p>
            <a:pPr algn="l" indent="0" marL="0">
              <a:buNone/>
            </a:pPr>
            <a:r>
              <a:rPr lang="en-US" sz="900" b="1" spc="100" kern="0" dirty="0">
                <a:solidFill>
                  <a:srgbClr val="8D9AAE"/>
                </a:solidFill>
                <a:latin typeface="Calibri" pitchFamily="34" charset="0"/>
                <a:ea typeface="Calibri" pitchFamily="34" charset="-122"/>
                <a:cs typeface="Calibri" pitchFamily="34" charset="-120"/>
              </a:rPr>
              <a:t>SESSION 2</a:t>
            </a:r>
            <a:endParaRPr lang="en-US" sz="900" dirty="0"/>
          </a:p>
        </p:txBody>
      </p:sp>
      <p:sp>
        <p:nvSpPr>
          <p:cNvPr id="12" name="Text 10"/>
          <p:cNvSpPr/>
          <p:nvPr/>
        </p:nvSpPr>
        <p:spPr>
          <a:xfrm>
            <a:off x="11274552" y="6519672"/>
            <a:ext cx="457200" cy="274320"/>
          </a:xfrm>
          <a:prstGeom prst="rect">
            <a:avLst/>
          </a:prstGeom>
          <a:noFill/>
          <a:ln/>
        </p:spPr>
        <p:txBody>
          <a:bodyPr wrap="square" rtlCol="0" anchor="ctr"/>
          <a:lstStyle/>
          <a:p>
            <a:pPr algn="r" indent="0" marL="0">
              <a:buNone/>
            </a:pPr>
            <a:r>
              <a:rPr lang="en-US" sz="900" dirty="0">
                <a:solidFill>
                  <a:srgbClr val="8D9AAE"/>
                </a:solidFill>
                <a:latin typeface="Calibri" pitchFamily="34" charset="0"/>
                <a:ea typeface="Calibri" pitchFamily="34" charset="-122"/>
                <a:cs typeface="Calibri" pitchFamily="34" charset="-120"/>
              </a:rPr>
              <a:t>1</a:t>
            </a:r>
            <a:endParaRPr lang="en-US" sz="900" dirty="0"/>
          </a:p>
        </p:txBody>
      </p:sp>
      <p:sp>
        <p:nvSpPr>
          <p:cNvPr id="13" name="Shape 11"/>
          <p:cNvSpPr/>
          <p:nvPr/>
        </p:nvSpPr>
        <p:spPr>
          <a:xfrm>
            <a:off x="548640" y="5230368"/>
            <a:ext cx="256032" cy="256032"/>
          </a:xfrm>
          <a:prstGeom prst="ellipse">
            <a:avLst/>
          </a:prstGeom>
          <a:solidFill>
            <a:srgbClr val="FF3621"/>
          </a:solidFill>
          <a:ln/>
        </p:spPr>
      </p:sp>
      <p:sp>
        <p:nvSpPr>
          <p:cNvPr id="14" name="Text 12"/>
          <p:cNvSpPr/>
          <p:nvPr/>
        </p:nvSpPr>
        <p:spPr>
          <a:xfrm>
            <a:off x="548640" y="5230368"/>
            <a:ext cx="256032" cy="25603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15" name="Text 13"/>
          <p:cNvSpPr/>
          <p:nvPr/>
        </p:nvSpPr>
        <p:spPr>
          <a:xfrm>
            <a:off x="877824" y="5193792"/>
            <a:ext cx="3291840" cy="365760"/>
          </a:xfrm>
          <a:prstGeom prst="rect">
            <a:avLst/>
          </a:prstGeom>
          <a:noFill/>
          <a:ln/>
        </p:spPr>
        <p:txBody>
          <a:bodyPr wrap="square" rtlCol="0" anchor="ctr"/>
          <a:lstStyle/>
          <a:p>
            <a:pPr indent="0" marL="0">
              <a:buNone/>
            </a:pPr>
            <a:r>
              <a:rPr lang="en-US" sz="1150" dirty="0">
                <a:solidFill>
                  <a:srgbClr val="E7ECF6"/>
                </a:solidFill>
                <a:latin typeface="Calibri" pitchFamily="34" charset="0"/>
                <a:ea typeface="Calibri" pitchFamily="34" charset="-122"/>
                <a:cs typeface="Calibri" pitchFamily="34" charset="-120"/>
              </a:rPr>
              <a:t>Core utilities</a:t>
            </a:r>
            <a:endParaRPr lang="en-US" sz="1150" dirty="0"/>
          </a:p>
        </p:txBody>
      </p:sp>
      <p:sp>
        <p:nvSpPr>
          <p:cNvPr id="16" name="Shape 14"/>
          <p:cNvSpPr/>
          <p:nvPr/>
        </p:nvSpPr>
        <p:spPr>
          <a:xfrm>
            <a:off x="4251960" y="5230368"/>
            <a:ext cx="256032" cy="256032"/>
          </a:xfrm>
          <a:prstGeom prst="ellipse">
            <a:avLst/>
          </a:prstGeom>
          <a:solidFill>
            <a:srgbClr val="FF3621"/>
          </a:solidFill>
          <a:ln/>
        </p:spPr>
      </p:sp>
      <p:sp>
        <p:nvSpPr>
          <p:cNvPr id="17" name="Text 15"/>
          <p:cNvSpPr/>
          <p:nvPr/>
        </p:nvSpPr>
        <p:spPr>
          <a:xfrm>
            <a:off x="4251960" y="5230368"/>
            <a:ext cx="256032" cy="25603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18" name="Text 16"/>
          <p:cNvSpPr/>
          <p:nvPr/>
        </p:nvSpPr>
        <p:spPr>
          <a:xfrm>
            <a:off x="4581144" y="5193792"/>
            <a:ext cx="3291840" cy="365760"/>
          </a:xfrm>
          <a:prstGeom prst="rect">
            <a:avLst/>
          </a:prstGeom>
          <a:noFill/>
          <a:ln/>
        </p:spPr>
        <p:txBody>
          <a:bodyPr wrap="square" rtlCol="0" anchor="ctr"/>
          <a:lstStyle/>
          <a:p>
            <a:pPr indent="0" marL="0">
              <a:buNone/>
            </a:pPr>
            <a:r>
              <a:rPr lang="en-US" sz="1150" dirty="0">
                <a:solidFill>
                  <a:srgbClr val="E7ECF6"/>
                </a:solidFill>
                <a:latin typeface="Calibri" pitchFamily="34" charset="0"/>
                <a:ea typeface="Calibri" pitchFamily="34" charset="-122"/>
                <a:cs typeface="Calibri" pitchFamily="34" charset="-120"/>
              </a:rPr>
              <a:t>Naming conventions</a:t>
            </a:r>
            <a:endParaRPr lang="en-US" sz="1150" dirty="0"/>
          </a:p>
        </p:txBody>
      </p:sp>
      <p:sp>
        <p:nvSpPr>
          <p:cNvPr id="19" name="Shape 17"/>
          <p:cNvSpPr/>
          <p:nvPr/>
        </p:nvSpPr>
        <p:spPr>
          <a:xfrm>
            <a:off x="7955280" y="5230368"/>
            <a:ext cx="256032" cy="256032"/>
          </a:xfrm>
          <a:prstGeom prst="ellipse">
            <a:avLst/>
          </a:prstGeom>
          <a:solidFill>
            <a:srgbClr val="FF3621"/>
          </a:solidFill>
          <a:ln/>
        </p:spPr>
      </p:sp>
      <p:sp>
        <p:nvSpPr>
          <p:cNvPr id="20" name="Text 18"/>
          <p:cNvSpPr/>
          <p:nvPr/>
        </p:nvSpPr>
        <p:spPr>
          <a:xfrm>
            <a:off x="7955280" y="5230368"/>
            <a:ext cx="256032" cy="25603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21" name="Text 19"/>
          <p:cNvSpPr/>
          <p:nvPr/>
        </p:nvSpPr>
        <p:spPr>
          <a:xfrm>
            <a:off x="8284464" y="5193792"/>
            <a:ext cx="3291840" cy="365760"/>
          </a:xfrm>
          <a:prstGeom prst="rect">
            <a:avLst/>
          </a:prstGeom>
          <a:noFill/>
          <a:ln/>
        </p:spPr>
        <p:txBody>
          <a:bodyPr wrap="square" rtlCol="0" anchor="ctr"/>
          <a:lstStyle/>
          <a:p>
            <a:pPr indent="0" marL="0">
              <a:buNone/>
            </a:pPr>
            <a:r>
              <a:rPr lang="en-US" sz="1150" dirty="0">
                <a:solidFill>
                  <a:srgbClr val="E7ECF6"/>
                </a:solidFill>
                <a:latin typeface="Calibri" pitchFamily="34" charset="0"/>
                <a:ea typeface="Calibri" pitchFamily="34" charset="-122"/>
                <a:cs typeface="Calibri" pitchFamily="34" charset="-120"/>
              </a:rPr>
              <a:t>Table types</a:t>
            </a:r>
            <a:endParaRPr lang="en-US" sz="1150" dirty="0"/>
          </a:p>
        </p:txBody>
      </p:sp>
      <p:sp>
        <p:nvSpPr>
          <p:cNvPr id="22" name="Shape 20"/>
          <p:cNvSpPr/>
          <p:nvPr/>
        </p:nvSpPr>
        <p:spPr>
          <a:xfrm>
            <a:off x="548640" y="5687568"/>
            <a:ext cx="256032" cy="256032"/>
          </a:xfrm>
          <a:prstGeom prst="ellipse">
            <a:avLst/>
          </a:prstGeom>
          <a:solidFill>
            <a:srgbClr val="FF3621"/>
          </a:solidFill>
          <a:ln/>
        </p:spPr>
      </p:sp>
      <p:sp>
        <p:nvSpPr>
          <p:cNvPr id="23" name="Text 21"/>
          <p:cNvSpPr/>
          <p:nvPr/>
        </p:nvSpPr>
        <p:spPr>
          <a:xfrm>
            <a:off x="548640" y="5687568"/>
            <a:ext cx="256032" cy="25603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24" name="Text 22"/>
          <p:cNvSpPr/>
          <p:nvPr/>
        </p:nvSpPr>
        <p:spPr>
          <a:xfrm>
            <a:off x="877824" y="5650992"/>
            <a:ext cx="3291840" cy="365760"/>
          </a:xfrm>
          <a:prstGeom prst="rect">
            <a:avLst/>
          </a:prstGeom>
          <a:noFill/>
          <a:ln/>
        </p:spPr>
        <p:txBody>
          <a:bodyPr wrap="square" rtlCol="0" anchor="ctr"/>
          <a:lstStyle/>
          <a:p>
            <a:pPr indent="0" marL="0">
              <a:buNone/>
            </a:pPr>
            <a:r>
              <a:rPr lang="en-US" sz="1150" dirty="0">
                <a:solidFill>
                  <a:srgbClr val="E7ECF6"/>
                </a:solidFill>
                <a:latin typeface="Calibri" pitchFamily="34" charset="0"/>
                <a:ea typeface="Calibri" pitchFamily="34" charset="-122"/>
                <a:cs typeface="Calibri" pitchFamily="34" charset="-120"/>
              </a:rPr>
              <a:t>Data sources</a:t>
            </a:r>
            <a:endParaRPr lang="en-US" sz="1150" dirty="0"/>
          </a:p>
        </p:txBody>
      </p:sp>
      <p:sp>
        <p:nvSpPr>
          <p:cNvPr id="25" name="Shape 23"/>
          <p:cNvSpPr/>
          <p:nvPr/>
        </p:nvSpPr>
        <p:spPr>
          <a:xfrm>
            <a:off x="4251960" y="5687568"/>
            <a:ext cx="256032" cy="256032"/>
          </a:xfrm>
          <a:prstGeom prst="ellipse">
            <a:avLst/>
          </a:prstGeom>
          <a:solidFill>
            <a:srgbClr val="FF3621"/>
          </a:solidFill>
          <a:ln/>
        </p:spPr>
      </p:sp>
      <p:sp>
        <p:nvSpPr>
          <p:cNvPr id="26" name="Text 24"/>
          <p:cNvSpPr/>
          <p:nvPr/>
        </p:nvSpPr>
        <p:spPr>
          <a:xfrm>
            <a:off x="4251960" y="5687568"/>
            <a:ext cx="256032" cy="25603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27" name="Text 25"/>
          <p:cNvSpPr/>
          <p:nvPr/>
        </p:nvSpPr>
        <p:spPr>
          <a:xfrm>
            <a:off x="4581144" y="5650992"/>
            <a:ext cx="3291840" cy="365760"/>
          </a:xfrm>
          <a:prstGeom prst="rect">
            <a:avLst/>
          </a:prstGeom>
          <a:noFill/>
          <a:ln/>
        </p:spPr>
        <p:txBody>
          <a:bodyPr wrap="square" rtlCol="0" anchor="ctr"/>
          <a:lstStyle/>
          <a:p>
            <a:pPr indent="0" marL="0">
              <a:buNone/>
            </a:pPr>
            <a:r>
              <a:rPr lang="en-US" sz="1150" dirty="0">
                <a:solidFill>
                  <a:srgbClr val="E7ECF6"/>
                </a:solidFill>
                <a:latin typeface="Calibri" pitchFamily="34" charset="0"/>
                <a:ea typeface="Calibri" pitchFamily="34" charset="-122"/>
                <a:cs typeface="Calibri" pitchFamily="34" charset="-120"/>
              </a:rPr>
              <a:t>Git workflow</a:t>
            </a:r>
            <a:endParaRPr lang="en-US" sz="1150" dirty="0"/>
          </a:p>
        </p:txBody>
      </p:sp>
      <p:sp>
        <p:nvSpPr>
          <p:cNvPr id="28" name="Shape 26"/>
          <p:cNvSpPr/>
          <p:nvPr/>
        </p:nvSpPr>
        <p:spPr>
          <a:xfrm>
            <a:off x="7955280" y="5687568"/>
            <a:ext cx="256032" cy="256032"/>
          </a:xfrm>
          <a:prstGeom prst="ellipse">
            <a:avLst/>
          </a:prstGeom>
          <a:solidFill>
            <a:srgbClr val="FF3621"/>
          </a:solidFill>
          <a:ln/>
        </p:spPr>
      </p:sp>
      <p:sp>
        <p:nvSpPr>
          <p:cNvPr id="29" name="Text 27"/>
          <p:cNvSpPr/>
          <p:nvPr/>
        </p:nvSpPr>
        <p:spPr>
          <a:xfrm>
            <a:off x="7955280" y="5687568"/>
            <a:ext cx="256032" cy="25603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30" name="Text 28"/>
          <p:cNvSpPr/>
          <p:nvPr/>
        </p:nvSpPr>
        <p:spPr>
          <a:xfrm>
            <a:off x="8284464" y="5650992"/>
            <a:ext cx="3291840" cy="365760"/>
          </a:xfrm>
          <a:prstGeom prst="rect">
            <a:avLst/>
          </a:prstGeom>
          <a:noFill/>
          <a:ln/>
        </p:spPr>
        <p:txBody>
          <a:bodyPr wrap="square" rtlCol="0" anchor="ctr"/>
          <a:lstStyle/>
          <a:p>
            <a:pPr indent="0" marL="0">
              <a:buNone/>
            </a:pPr>
            <a:r>
              <a:rPr lang="en-US" sz="1150" dirty="0">
                <a:solidFill>
                  <a:srgbClr val="E7ECF6"/>
                </a:solidFill>
                <a:latin typeface="Calibri" pitchFamily="34" charset="0"/>
                <a:ea typeface="Calibri" pitchFamily="34" charset="-122"/>
                <a:cs typeface="Calibri" pitchFamily="34" charset="-120"/>
              </a:rPr>
              <a:t>Open questions</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rtlCol="0" anchor="ctr"/>
          <a:lstStyle/>
          <a:p>
            <a:pPr indent="0" marL="0">
              <a:buNone/>
            </a:pPr>
            <a:r>
              <a:rPr lang="en-US" sz="1200" b="1" spc="120" kern="0" dirty="0">
                <a:solidFill>
                  <a:srgbClr val="FF3621"/>
                </a:solidFill>
                <a:latin typeface="Calibri" pitchFamily="34" charset="0"/>
                <a:ea typeface="Calibri" pitchFamily="34" charset="-122"/>
                <a:cs typeface="Calibri" pitchFamily="34" charset="-120"/>
              </a:rPr>
              <a:t>FRAMEWORKS</a:t>
            </a:r>
            <a:endParaRPr lang="en-US" sz="1200" dirty="0"/>
          </a:p>
        </p:txBody>
      </p:sp>
      <p:sp>
        <p:nvSpPr>
          <p:cNvPr id="3" name="Text 1"/>
          <p:cNvSpPr/>
          <p:nvPr/>
        </p:nvSpPr>
        <p:spPr>
          <a:xfrm>
            <a:off x="548640" y="685800"/>
            <a:ext cx="10789920" cy="640080"/>
          </a:xfrm>
          <a:prstGeom prst="rect">
            <a:avLst/>
          </a:prstGeom>
          <a:noFill/>
          <a:ln/>
        </p:spPr>
        <p:txBody>
          <a:bodyPr wrap="square" rtlCol="0" anchor="ctr"/>
          <a:lstStyle/>
          <a:p>
            <a:pPr algn="l" indent="0" marL="0">
              <a:buNone/>
            </a:pPr>
            <a:r>
              <a:rPr lang="en-US" sz="3000" b="1" dirty="0">
                <a:solidFill>
                  <a:srgbClr val="17233B"/>
                </a:solidFill>
                <a:latin typeface="Cambria" pitchFamily="34" charset="0"/>
                <a:ea typeface="Cambria" pitchFamily="34" charset="-122"/>
                <a:cs typeface="Cambria" pitchFamily="34" charset="-120"/>
              </a:rPr>
              <a:t>The four utilities that carry the whole project</a:t>
            </a:r>
            <a:endParaRPr lang="en-US" sz="3000" dirty="0"/>
          </a:p>
        </p:txBody>
      </p:sp>
      <p:sp>
        <p:nvSpPr>
          <p:cNvPr id="4" name="Text 2"/>
          <p:cNvSpPr/>
          <p:nvPr/>
        </p:nvSpPr>
        <p:spPr>
          <a:xfrm>
            <a:off x="548640" y="1371600"/>
            <a:ext cx="10881360" cy="457200"/>
          </a:xfrm>
          <a:prstGeom prst="rect">
            <a:avLst/>
          </a:prstGeom>
          <a:noFill/>
          <a:ln/>
        </p:spPr>
        <p:txBody>
          <a:bodyPr wrap="square" rtlCol="0" anchor="ctr"/>
          <a:lstStyle/>
          <a:p>
            <a:pPr indent="0" marL="0">
              <a:buNone/>
            </a:pPr>
            <a:r>
              <a:rPr lang="en-US" sz="1300" dirty="0">
                <a:solidFill>
                  <a:srgbClr val="5C7285"/>
                </a:solidFill>
                <a:latin typeface="Calibri" pitchFamily="34" charset="0"/>
                <a:ea typeface="Calibri" pitchFamily="34" charset="-122"/>
                <a:cs typeface="Calibri" pitchFamily="34" charset="-120"/>
              </a:rPr>
              <a:t>With ~40,000 tables, ~6,800 scripts, and ~350–400 streams, nothing here is done by hand. Learn what each utility is for before you touch a stream.</a:t>
            </a:r>
            <a:endParaRPr lang="en-US" sz="1300" dirty="0"/>
          </a:p>
        </p:txBody>
      </p:sp>
      <p:sp>
        <p:nvSpPr>
          <p:cNvPr id="5" name="Shape 3"/>
          <p:cNvSpPr/>
          <p:nvPr/>
        </p:nvSpPr>
        <p:spPr>
          <a:xfrm>
            <a:off x="548640" y="1965960"/>
            <a:ext cx="11064240" cy="1005840"/>
          </a:xfrm>
          <a:prstGeom prst="roundRect">
            <a:avLst>
              <a:gd name="adj" fmla="val 7273"/>
            </a:avLst>
          </a:prstGeom>
          <a:solidFill>
            <a:srgbClr val="F5F6F8"/>
          </a:solidFill>
          <a:ln w="12700">
            <a:solidFill>
              <a:srgbClr val="E1E4EA"/>
            </a:solidFill>
            <a:prstDash val="solid"/>
          </a:ln>
        </p:spPr>
      </p:sp>
      <p:sp>
        <p:nvSpPr>
          <p:cNvPr id="6" name="Shape 4"/>
          <p:cNvSpPr/>
          <p:nvPr/>
        </p:nvSpPr>
        <p:spPr>
          <a:xfrm>
            <a:off x="731520" y="2185416"/>
            <a:ext cx="109728" cy="566928"/>
          </a:xfrm>
          <a:prstGeom prst="roundRect">
            <a:avLst/>
          </a:prstGeom>
          <a:solidFill>
            <a:srgbClr val="FF3621"/>
          </a:solidFill>
          <a:ln/>
        </p:spPr>
      </p:sp>
      <p:sp>
        <p:nvSpPr>
          <p:cNvPr id="7" name="Text 5"/>
          <p:cNvSpPr/>
          <p:nvPr/>
        </p:nvSpPr>
        <p:spPr>
          <a:xfrm>
            <a:off x="1005840" y="2075688"/>
            <a:ext cx="3200400" cy="777240"/>
          </a:xfrm>
          <a:prstGeom prst="rect">
            <a:avLst/>
          </a:prstGeom>
          <a:noFill/>
          <a:ln/>
        </p:spPr>
        <p:txBody>
          <a:bodyPr wrap="square" rtlCol="0" anchor="ctr"/>
          <a:lstStyle/>
          <a:p>
            <a:pPr indent="0" marL="0">
              <a:buNone/>
            </a:pPr>
            <a:r>
              <a:rPr lang="en-US" sz="1400" b="1" dirty="0">
                <a:solidFill>
                  <a:srgbClr val="17233B"/>
                </a:solidFill>
                <a:latin typeface="Cambria" pitchFamily="34" charset="0"/>
                <a:ea typeface="Cambria" pitchFamily="34" charset="-122"/>
                <a:cs typeface="Cambria" pitchFamily="34" charset="-120"/>
              </a:rPr>
              <a:t>Data Load Utility</a:t>
            </a:r>
            <a:endParaRPr lang="en-US" sz="1400" dirty="0"/>
          </a:p>
        </p:txBody>
      </p:sp>
      <p:sp>
        <p:nvSpPr>
          <p:cNvPr id="8" name="Text 6"/>
          <p:cNvSpPr/>
          <p:nvPr/>
        </p:nvSpPr>
        <p:spPr>
          <a:xfrm>
            <a:off x="4343400" y="2057400"/>
            <a:ext cx="7086600" cy="822960"/>
          </a:xfrm>
          <a:prstGeom prst="rect">
            <a:avLst/>
          </a:prstGeom>
          <a:noFill/>
          <a:ln/>
        </p:spPr>
        <p:txBody>
          <a:bodyPr wrap="square" rtlCol="0" anchor="ctr"/>
          <a:lstStyle/>
          <a:p>
            <a:pPr indent="0" marL="0">
              <a:lnSpc>
                <a:spcPts val="1400"/>
              </a:lnSpc>
              <a:buNone/>
            </a:pPr>
            <a:r>
              <a:rPr lang="en-US" sz="1200" dirty="0">
                <a:solidFill>
                  <a:srgbClr val="232B3A"/>
                </a:solidFill>
                <a:latin typeface="Calibri" pitchFamily="34" charset="0"/>
                <a:ea typeface="Calibri" pitchFamily="34" charset="-122"/>
                <a:cs typeface="Calibri" pitchFamily="34" charset="-120"/>
              </a:rPr>
              <a:t>Loads Teradata-exported data (via ADLS) into source, target, and trans tables so your stream has something to run against.</a:t>
            </a:r>
            <a:endParaRPr lang="en-US" sz="1200" dirty="0"/>
          </a:p>
        </p:txBody>
      </p:sp>
      <p:sp>
        <p:nvSpPr>
          <p:cNvPr id="9" name="Shape 7"/>
          <p:cNvSpPr/>
          <p:nvPr/>
        </p:nvSpPr>
        <p:spPr>
          <a:xfrm>
            <a:off x="548640" y="3081528"/>
            <a:ext cx="11064240" cy="1005840"/>
          </a:xfrm>
          <a:prstGeom prst="roundRect">
            <a:avLst>
              <a:gd name="adj" fmla="val 7273"/>
            </a:avLst>
          </a:prstGeom>
          <a:solidFill>
            <a:srgbClr val="F5F6F8"/>
          </a:solidFill>
          <a:ln w="12700">
            <a:solidFill>
              <a:srgbClr val="E1E4EA"/>
            </a:solidFill>
            <a:prstDash val="solid"/>
          </a:ln>
        </p:spPr>
      </p:sp>
      <p:sp>
        <p:nvSpPr>
          <p:cNvPr id="10" name="Shape 8"/>
          <p:cNvSpPr/>
          <p:nvPr/>
        </p:nvSpPr>
        <p:spPr>
          <a:xfrm>
            <a:off x="731520" y="3300984"/>
            <a:ext cx="109728" cy="566928"/>
          </a:xfrm>
          <a:prstGeom prst="roundRect">
            <a:avLst/>
          </a:prstGeom>
          <a:solidFill>
            <a:srgbClr val="FF3621"/>
          </a:solidFill>
          <a:ln/>
        </p:spPr>
      </p:sp>
      <p:sp>
        <p:nvSpPr>
          <p:cNvPr id="11" name="Text 9"/>
          <p:cNvSpPr/>
          <p:nvPr/>
        </p:nvSpPr>
        <p:spPr>
          <a:xfrm>
            <a:off x="1005840" y="3191256"/>
            <a:ext cx="3200400" cy="777240"/>
          </a:xfrm>
          <a:prstGeom prst="rect">
            <a:avLst/>
          </a:prstGeom>
          <a:noFill/>
          <a:ln/>
        </p:spPr>
        <p:txBody>
          <a:bodyPr wrap="square" rtlCol="0" anchor="ctr"/>
          <a:lstStyle/>
          <a:p>
            <a:pPr indent="0" marL="0">
              <a:buNone/>
            </a:pPr>
            <a:r>
              <a:rPr lang="en-US" sz="1400" b="1" dirty="0">
                <a:solidFill>
                  <a:srgbClr val="17233B"/>
                </a:solidFill>
                <a:latin typeface="Cambria" pitchFamily="34" charset="0"/>
                <a:ea typeface="Cambria" pitchFamily="34" charset="-122"/>
                <a:cs typeface="Cambria" pitchFamily="34" charset="-120"/>
              </a:rPr>
              <a:t>DDL Deployment Utility</a:t>
            </a:r>
            <a:endParaRPr lang="en-US" sz="1400" dirty="0"/>
          </a:p>
        </p:txBody>
      </p:sp>
      <p:sp>
        <p:nvSpPr>
          <p:cNvPr id="12" name="Text 10"/>
          <p:cNvSpPr/>
          <p:nvPr/>
        </p:nvSpPr>
        <p:spPr>
          <a:xfrm>
            <a:off x="4343400" y="3172968"/>
            <a:ext cx="7086600" cy="822960"/>
          </a:xfrm>
          <a:prstGeom prst="rect">
            <a:avLst/>
          </a:prstGeom>
          <a:noFill/>
          <a:ln/>
        </p:spPr>
        <p:txBody>
          <a:bodyPr wrap="square" rtlCol="0" anchor="ctr"/>
          <a:lstStyle/>
          <a:p>
            <a:pPr indent="0" marL="0">
              <a:lnSpc>
                <a:spcPts val="1400"/>
              </a:lnSpc>
              <a:buNone/>
            </a:pPr>
            <a:r>
              <a:rPr lang="en-US" sz="1200" dirty="0">
                <a:solidFill>
                  <a:srgbClr val="232B3A"/>
                </a:solidFill>
                <a:latin typeface="Calibri" pitchFamily="34" charset="0"/>
                <a:ea typeface="Calibri" pitchFamily="34" charset="-122"/>
                <a:cs typeface="Calibri" pitchFamily="34" charset="-120"/>
              </a:rPr>
              <a:t>Deploys the DDL for every table you need — including the same table redeployed under different table-code suffixes used across scripts — without a team doing it by hand.</a:t>
            </a:r>
            <a:endParaRPr lang="en-US" sz="1200" dirty="0"/>
          </a:p>
        </p:txBody>
      </p:sp>
      <p:sp>
        <p:nvSpPr>
          <p:cNvPr id="13" name="Shape 11"/>
          <p:cNvSpPr/>
          <p:nvPr/>
        </p:nvSpPr>
        <p:spPr>
          <a:xfrm>
            <a:off x="548640" y="4197096"/>
            <a:ext cx="11064240" cy="1005840"/>
          </a:xfrm>
          <a:prstGeom prst="roundRect">
            <a:avLst>
              <a:gd name="adj" fmla="val 7273"/>
            </a:avLst>
          </a:prstGeom>
          <a:solidFill>
            <a:srgbClr val="F5F6F8"/>
          </a:solidFill>
          <a:ln w="12700">
            <a:solidFill>
              <a:srgbClr val="E1E4EA"/>
            </a:solidFill>
            <a:prstDash val="solid"/>
          </a:ln>
        </p:spPr>
      </p:sp>
      <p:sp>
        <p:nvSpPr>
          <p:cNvPr id="14" name="Shape 12"/>
          <p:cNvSpPr/>
          <p:nvPr/>
        </p:nvSpPr>
        <p:spPr>
          <a:xfrm>
            <a:off x="731520" y="4416552"/>
            <a:ext cx="109728" cy="566928"/>
          </a:xfrm>
          <a:prstGeom prst="roundRect">
            <a:avLst/>
          </a:prstGeom>
          <a:solidFill>
            <a:srgbClr val="FF3621"/>
          </a:solidFill>
          <a:ln/>
        </p:spPr>
      </p:sp>
      <p:sp>
        <p:nvSpPr>
          <p:cNvPr id="15" name="Text 13"/>
          <p:cNvSpPr/>
          <p:nvPr/>
        </p:nvSpPr>
        <p:spPr>
          <a:xfrm>
            <a:off x="1005840" y="4306824"/>
            <a:ext cx="3200400" cy="777240"/>
          </a:xfrm>
          <a:prstGeom prst="rect">
            <a:avLst/>
          </a:prstGeom>
          <a:noFill/>
          <a:ln/>
        </p:spPr>
        <p:txBody>
          <a:bodyPr wrap="square" rtlCol="0" anchor="ctr"/>
          <a:lstStyle/>
          <a:p>
            <a:pPr indent="0" marL="0">
              <a:buNone/>
            </a:pPr>
            <a:r>
              <a:rPr lang="en-US" sz="1400" b="1" dirty="0">
                <a:solidFill>
                  <a:srgbClr val="17233B"/>
                </a:solidFill>
                <a:latin typeface="Cambria" pitchFamily="34" charset="0"/>
                <a:ea typeface="Cambria" pitchFamily="34" charset="-122"/>
                <a:cs typeface="Cambria" pitchFamily="34" charset="-120"/>
              </a:rPr>
              <a:t>AVF — Automated Validation Framework</a:t>
            </a:r>
            <a:endParaRPr lang="en-US" sz="1400" dirty="0"/>
          </a:p>
        </p:txBody>
      </p:sp>
      <p:sp>
        <p:nvSpPr>
          <p:cNvPr id="16" name="Text 14"/>
          <p:cNvSpPr/>
          <p:nvPr/>
        </p:nvSpPr>
        <p:spPr>
          <a:xfrm>
            <a:off x="4343400" y="4288536"/>
            <a:ext cx="7086600" cy="822960"/>
          </a:xfrm>
          <a:prstGeom prst="rect">
            <a:avLst/>
          </a:prstGeom>
          <a:noFill/>
          <a:ln/>
        </p:spPr>
        <p:txBody>
          <a:bodyPr wrap="square" rtlCol="0" anchor="ctr"/>
          <a:lstStyle/>
          <a:p>
            <a:pPr indent="0" marL="0">
              <a:lnSpc>
                <a:spcPts val="1400"/>
              </a:lnSpc>
              <a:buNone/>
            </a:pPr>
            <a:r>
              <a:rPr lang="en-US" sz="1200" dirty="0">
                <a:solidFill>
                  <a:srgbClr val="232B3A"/>
                </a:solidFill>
                <a:latin typeface="Calibri" pitchFamily="34" charset="0"/>
                <a:ea typeface="Calibri" pitchFamily="34" charset="-122"/>
                <a:cs typeface="Calibri" pitchFamily="34" charset="-120"/>
              </a:rPr>
              <a:t>Cell-to-cell / row-to-row comparison of your generated target table against Teradata's exported target. Pinpoints exactly which table, row, or metric doesn't match, and creates recon tables for you.</a:t>
            </a:r>
            <a:endParaRPr lang="en-US" sz="1200" dirty="0"/>
          </a:p>
        </p:txBody>
      </p:sp>
      <p:sp>
        <p:nvSpPr>
          <p:cNvPr id="17" name="Shape 15"/>
          <p:cNvSpPr/>
          <p:nvPr/>
        </p:nvSpPr>
        <p:spPr>
          <a:xfrm>
            <a:off x="548640" y="5312664"/>
            <a:ext cx="11064240" cy="1005840"/>
          </a:xfrm>
          <a:prstGeom prst="roundRect">
            <a:avLst>
              <a:gd name="adj" fmla="val 7273"/>
            </a:avLst>
          </a:prstGeom>
          <a:solidFill>
            <a:srgbClr val="F5F6F8"/>
          </a:solidFill>
          <a:ln w="12700">
            <a:solidFill>
              <a:srgbClr val="E1E4EA"/>
            </a:solidFill>
            <a:prstDash val="solid"/>
          </a:ln>
        </p:spPr>
      </p:sp>
      <p:sp>
        <p:nvSpPr>
          <p:cNvPr id="18" name="Shape 16"/>
          <p:cNvSpPr/>
          <p:nvPr/>
        </p:nvSpPr>
        <p:spPr>
          <a:xfrm>
            <a:off x="731520" y="5532120"/>
            <a:ext cx="109728" cy="566928"/>
          </a:xfrm>
          <a:prstGeom prst="roundRect">
            <a:avLst/>
          </a:prstGeom>
          <a:solidFill>
            <a:srgbClr val="FF3621"/>
          </a:solidFill>
          <a:ln/>
        </p:spPr>
      </p:sp>
      <p:sp>
        <p:nvSpPr>
          <p:cNvPr id="19" name="Text 17"/>
          <p:cNvSpPr/>
          <p:nvPr/>
        </p:nvSpPr>
        <p:spPr>
          <a:xfrm>
            <a:off x="1005840" y="5422392"/>
            <a:ext cx="3200400" cy="777240"/>
          </a:xfrm>
          <a:prstGeom prst="rect">
            <a:avLst/>
          </a:prstGeom>
          <a:noFill/>
          <a:ln/>
        </p:spPr>
        <p:txBody>
          <a:bodyPr wrap="square" rtlCol="0" anchor="ctr"/>
          <a:lstStyle/>
          <a:p>
            <a:pPr indent="0" marL="0">
              <a:buNone/>
            </a:pPr>
            <a:r>
              <a:rPr lang="en-US" sz="1400" b="1" dirty="0">
                <a:solidFill>
                  <a:srgbClr val="17233B"/>
                </a:solidFill>
                <a:latin typeface="Cambria" pitchFamily="34" charset="0"/>
                <a:ea typeface="Cambria" pitchFamily="34" charset="-122"/>
                <a:cs typeface="Cambria" pitchFamily="34" charset="-120"/>
              </a:rPr>
              <a:t>Unix→Python Conversion Framework</a:t>
            </a:r>
            <a:endParaRPr lang="en-US" sz="1400" dirty="0"/>
          </a:p>
        </p:txBody>
      </p:sp>
      <p:sp>
        <p:nvSpPr>
          <p:cNvPr id="20" name="Text 18"/>
          <p:cNvSpPr/>
          <p:nvPr/>
        </p:nvSpPr>
        <p:spPr>
          <a:xfrm>
            <a:off x="4343400" y="5404104"/>
            <a:ext cx="7086600" cy="822960"/>
          </a:xfrm>
          <a:prstGeom prst="rect">
            <a:avLst/>
          </a:prstGeom>
          <a:noFill/>
          <a:ln/>
        </p:spPr>
        <p:txBody>
          <a:bodyPr wrap="square" rtlCol="0" anchor="ctr"/>
          <a:lstStyle/>
          <a:p>
            <a:pPr indent="0" marL="0">
              <a:lnSpc>
                <a:spcPts val="1400"/>
              </a:lnSpc>
              <a:buNone/>
            </a:pPr>
            <a:r>
              <a:rPr lang="en-US" sz="1200" dirty="0">
                <a:solidFill>
                  <a:srgbClr val="232B3A"/>
                </a:solidFill>
                <a:latin typeface="Calibri" pitchFamily="34" charset="0"/>
                <a:ea typeface="Calibri" pitchFamily="34" charset="-122"/>
                <a:cs typeface="Calibri" pitchFamily="34" charset="-120"/>
              </a:rPr>
              <a:t>Converts the project's legacy Unix shell scripts into Python, since Databricks jobs run Python, not shell.</a:t>
            </a:r>
            <a:endParaRPr lang="en-US" sz="1200" dirty="0"/>
          </a:p>
        </p:txBody>
      </p:sp>
      <p:sp>
        <p:nvSpPr>
          <p:cNvPr id="21" name="Text 19"/>
          <p:cNvSpPr/>
          <p:nvPr/>
        </p:nvSpPr>
        <p:spPr>
          <a:xfrm>
            <a:off x="457200" y="6519672"/>
            <a:ext cx="7315200" cy="274320"/>
          </a:xfrm>
          <a:prstGeom prst="rect">
            <a:avLst/>
          </a:prstGeom>
          <a:noFill/>
          <a:ln/>
        </p:spPr>
        <p:txBody>
          <a:bodyPr wrap="square" rtlCol="0" anchor="ctr"/>
          <a:lstStyle/>
          <a:p>
            <a:pPr algn="l" indent="0" marL="0">
              <a:buNone/>
            </a:pPr>
            <a:r>
              <a:rPr lang="en-US" sz="900" b="1" spc="100" kern="0" dirty="0">
                <a:solidFill>
                  <a:srgbClr val="8D9AAE"/>
                </a:solidFill>
                <a:latin typeface="Calibri" pitchFamily="34" charset="0"/>
                <a:ea typeface="Calibri" pitchFamily="34" charset="-122"/>
                <a:cs typeface="Calibri" pitchFamily="34" charset="-120"/>
              </a:rPr>
              <a:t>POD LEAD HOUR</a:t>
            </a:r>
            <a:endParaRPr lang="en-US" sz="900" dirty="0"/>
          </a:p>
        </p:txBody>
      </p:sp>
      <p:sp>
        <p:nvSpPr>
          <p:cNvPr id="22" name="Text 20"/>
          <p:cNvSpPr/>
          <p:nvPr/>
        </p:nvSpPr>
        <p:spPr>
          <a:xfrm>
            <a:off x="11274552" y="6519672"/>
            <a:ext cx="457200" cy="274320"/>
          </a:xfrm>
          <a:prstGeom prst="rect">
            <a:avLst/>
          </a:prstGeom>
          <a:noFill/>
          <a:ln/>
        </p:spPr>
        <p:txBody>
          <a:bodyPr wrap="square" rtlCol="0" anchor="ctr"/>
          <a:lstStyle/>
          <a:p>
            <a:pPr algn="r" indent="0" marL="0">
              <a:buNone/>
            </a:pPr>
            <a:r>
              <a:rPr lang="en-US" sz="900" dirty="0">
                <a:solidFill>
                  <a:srgbClr val="8D9AAE"/>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rtlCol="0" anchor="ctr"/>
          <a:lstStyle/>
          <a:p>
            <a:pPr indent="0" marL="0">
              <a:buNone/>
            </a:pPr>
            <a:r>
              <a:rPr lang="en-US" sz="1200" b="1" spc="120" kern="0" dirty="0">
                <a:solidFill>
                  <a:srgbClr val="FF3621"/>
                </a:solidFill>
                <a:latin typeface="Calibri" pitchFamily="34" charset="0"/>
                <a:ea typeface="Calibri" pitchFamily="34" charset="-122"/>
                <a:cs typeface="Calibri" pitchFamily="34" charset="-120"/>
              </a:rPr>
              <a:t>CONVENTIONS</a:t>
            </a:r>
            <a:endParaRPr lang="en-US" sz="1200" dirty="0"/>
          </a:p>
        </p:txBody>
      </p:sp>
      <p:sp>
        <p:nvSpPr>
          <p:cNvPr id="3" name="Text 1"/>
          <p:cNvSpPr/>
          <p:nvPr/>
        </p:nvSpPr>
        <p:spPr>
          <a:xfrm>
            <a:off x="548640" y="685800"/>
            <a:ext cx="10789920" cy="640080"/>
          </a:xfrm>
          <a:prstGeom prst="rect">
            <a:avLst/>
          </a:prstGeom>
          <a:noFill/>
          <a:ln/>
        </p:spPr>
        <p:txBody>
          <a:bodyPr wrap="square" rtlCol="0" anchor="ctr"/>
          <a:lstStyle/>
          <a:p>
            <a:pPr algn="l" indent="0" marL="0">
              <a:buNone/>
            </a:pPr>
            <a:r>
              <a:rPr lang="en-US" sz="3000" b="1" dirty="0">
                <a:solidFill>
                  <a:srgbClr val="17233B"/>
                </a:solidFill>
                <a:latin typeface="Cambria" pitchFamily="34" charset="0"/>
                <a:ea typeface="Cambria" pitchFamily="34" charset="-122"/>
                <a:cs typeface="Cambria" pitchFamily="34" charset="-120"/>
              </a:rPr>
              <a:t>Naming conventions you'll see everywhere</a:t>
            </a:r>
            <a:endParaRPr lang="en-US" sz="3000" dirty="0"/>
          </a:p>
        </p:txBody>
      </p:sp>
      <p:sp>
        <p:nvSpPr>
          <p:cNvPr id="4" name="Text 2"/>
          <p:cNvSpPr/>
          <p:nvPr/>
        </p:nvSpPr>
        <p:spPr>
          <a:xfrm>
            <a:off x="548640" y="1417320"/>
            <a:ext cx="7315200" cy="320040"/>
          </a:xfrm>
          <a:prstGeom prst="rect">
            <a:avLst/>
          </a:prstGeom>
          <a:noFill/>
          <a:ln/>
        </p:spPr>
        <p:txBody>
          <a:bodyPr wrap="square" rtlCol="0" anchor="ctr"/>
          <a:lstStyle/>
          <a:p>
            <a:pPr indent="0" marL="0">
              <a:buNone/>
            </a:pPr>
            <a:r>
              <a:rPr lang="en-US" sz="1500" b="1" dirty="0">
                <a:solidFill>
                  <a:srgbClr val="17233B"/>
                </a:solidFill>
                <a:latin typeface="Cambria" pitchFamily="34" charset="0"/>
                <a:ea typeface="Cambria" pitchFamily="34" charset="-122"/>
                <a:cs typeface="Cambria" pitchFamily="34" charset="-120"/>
              </a:rPr>
              <a:t>Anatomy of a script name</a:t>
            </a:r>
            <a:endParaRPr lang="en-US" sz="1500" dirty="0"/>
          </a:p>
        </p:txBody>
      </p:sp>
      <p:sp>
        <p:nvSpPr>
          <p:cNvPr id="5" name="Shape 3"/>
          <p:cNvSpPr/>
          <p:nvPr/>
        </p:nvSpPr>
        <p:spPr>
          <a:xfrm>
            <a:off x="548640" y="1783080"/>
            <a:ext cx="3611880" cy="1417320"/>
          </a:xfrm>
          <a:prstGeom prst="roundRect">
            <a:avLst>
              <a:gd name="adj" fmla="val 5161"/>
            </a:avLst>
          </a:prstGeom>
          <a:solidFill>
            <a:srgbClr val="17233B"/>
          </a:solidFill>
          <a:ln/>
        </p:spPr>
      </p:sp>
      <p:sp>
        <p:nvSpPr>
          <p:cNvPr id="6" name="Text 4"/>
          <p:cNvSpPr/>
          <p:nvPr/>
        </p:nvSpPr>
        <p:spPr>
          <a:xfrm>
            <a:off x="731520" y="1901952"/>
            <a:ext cx="3291840" cy="320040"/>
          </a:xfrm>
          <a:prstGeom prst="rect">
            <a:avLst/>
          </a:prstGeom>
          <a:noFill/>
          <a:ln/>
        </p:spPr>
        <p:txBody>
          <a:bodyPr wrap="square" rtlCol="0" anchor="ctr"/>
          <a:lstStyle/>
          <a:p>
            <a:pPr indent="0" marL="0">
              <a:buNone/>
            </a:pPr>
            <a:r>
              <a:rPr lang="en-US" sz="1350" b="1" dirty="0">
                <a:solidFill>
                  <a:srgbClr val="FF3621"/>
                </a:solidFill>
                <a:latin typeface="Cambria" pitchFamily="34" charset="0"/>
                <a:ea typeface="Cambria" pitchFamily="34" charset="-122"/>
                <a:cs typeface="Cambria" pitchFamily="34" charset="-120"/>
              </a:rPr>
              <a:t>Script prefix</a:t>
            </a:r>
            <a:endParaRPr lang="en-US" sz="1350" dirty="0"/>
          </a:p>
        </p:txBody>
      </p:sp>
      <p:sp>
        <p:nvSpPr>
          <p:cNvPr id="7" name="Text 5"/>
          <p:cNvSpPr/>
          <p:nvPr/>
        </p:nvSpPr>
        <p:spPr>
          <a:xfrm>
            <a:off x="731520" y="2212848"/>
            <a:ext cx="3291840" cy="914400"/>
          </a:xfrm>
          <a:prstGeom prst="rect">
            <a:avLst/>
          </a:prstGeom>
          <a:noFill/>
          <a:ln/>
        </p:spPr>
        <p:txBody>
          <a:bodyPr wrap="square" rtlCol="0" anchor="ctr"/>
          <a:lstStyle/>
          <a:p>
            <a:pPr indent="0" marL="0">
              <a:lnSpc>
                <a:spcPts val="1300"/>
              </a:lnSpc>
              <a:buNone/>
            </a:pPr>
            <a:r>
              <a:rPr lang="en-US" sz="1050" dirty="0">
                <a:solidFill>
                  <a:srgbClr val="E7ECF6"/>
                </a:solidFill>
                <a:latin typeface="Calibri" pitchFamily="34" charset="0"/>
                <a:ea typeface="Calibri" pitchFamily="34" charset="-122"/>
                <a:cs typeface="Calibri" pitchFamily="34" charset="-120"/>
              </a:rPr>
              <a:t>Identifies the stream, e.g. “AVLBOS”. Unique per stream.</a:t>
            </a:r>
            <a:endParaRPr lang="en-US" sz="1050" dirty="0"/>
          </a:p>
        </p:txBody>
      </p:sp>
      <p:sp>
        <p:nvSpPr>
          <p:cNvPr id="8" name="Shape 6"/>
          <p:cNvSpPr/>
          <p:nvPr/>
        </p:nvSpPr>
        <p:spPr>
          <a:xfrm>
            <a:off x="4297680" y="1783080"/>
            <a:ext cx="3611880" cy="1417320"/>
          </a:xfrm>
          <a:prstGeom prst="roundRect">
            <a:avLst>
              <a:gd name="adj" fmla="val 5161"/>
            </a:avLst>
          </a:prstGeom>
          <a:solidFill>
            <a:srgbClr val="17233B"/>
          </a:solidFill>
          <a:ln/>
        </p:spPr>
      </p:sp>
      <p:sp>
        <p:nvSpPr>
          <p:cNvPr id="9" name="Text 7"/>
          <p:cNvSpPr/>
          <p:nvPr/>
        </p:nvSpPr>
        <p:spPr>
          <a:xfrm>
            <a:off x="4480560" y="1901952"/>
            <a:ext cx="3291840" cy="320040"/>
          </a:xfrm>
          <a:prstGeom prst="rect">
            <a:avLst/>
          </a:prstGeom>
          <a:noFill/>
          <a:ln/>
        </p:spPr>
        <p:txBody>
          <a:bodyPr wrap="square" rtlCol="0" anchor="ctr"/>
          <a:lstStyle/>
          <a:p>
            <a:pPr indent="0" marL="0">
              <a:buNone/>
            </a:pPr>
            <a:r>
              <a:rPr lang="en-US" sz="1350" b="1" dirty="0">
                <a:solidFill>
                  <a:srgbClr val="FF3621"/>
                </a:solidFill>
                <a:latin typeface="Cambria" pitchFamily="34" charset="0"/>
                <a:ea typeface="Cambria" pitchFamily="34" charset="-122"/>
                <a:cs typeface="Cambria" pitchFamily="34" charset="-120"/>
              </a:rPr>
              <a:t>Sequence</a:t>
            </a:r>
            <a:endParaRPr lang="en-US" sz="1350" dirty="0"/>
          </a:p>
        </p:txBody>
      </p:sp>
      <p:sp>
        <p:nvSpPr>
          <p:cNvPr id="10" name="Text 8"/>
          <p:cNvSpPr/>
          <p:nvPr/>
        </p:nvSpPr>
        <p:spPr>
          <a:xfrm>
            <a:off x="4480560" y="2212848"/>
            <a:ext cx="3291840" cy="914400"/>
          </a:xfrm>
          <a:prstGeom prst="rect">
            <a:avLst/>
          </a:prstGeom>
          <a:noFill/>
          <a:ln/>
        </p:spPr>
        <p:txBody>
          <a:bodyPr wrap="square" rtlCol="0" anchor="ctr"/>
          <a:lstStyle/>
          <a:p>
            <a:pPr indent="0" marL="0">
              <a:lnSpc>
                <a:spcPts val="1300"/>
              </a:lnSpc>
              <a:buNone/>
            </a:pPr>
            <a:r>
              <a:rPr lang="en-US" sz="1050" dirty="0">
                <a:solidFill>
                  <a:srgbClr val="E7ECF6"/>
                </a:solidFill>
                <a:latin typeface="Calibri" pitchFamily="34" charset="0"/>
                <a:ea typeface="Calibri" pitchFamily="34" charset="-122"/>
                <a:cs typeface="Calibri" pitchFamily="34" charset="-120"/>
              </a:rPr>
              <a:t>3-digit, incremental but not consecutive (e.g. 000, 010, 015, 020… 9999) — gaps are intentional, left as space to insert new scripts later without renumbering.</a:t>
            </a:r>
            <a:endParaRPr lang="en-US" sz="1050" dirty="0"/>
          </a:p>
        </p:txBody>
      </p:sp>
      <p:sp>
        <p:nvSpPr>
          <p:cNvPr id="11" name="Shape 9"/>
          <p:cNvSpPr/>
          <p:nvPr/>
        </p:nvSpPr>
        <p:spPr>
          <a:xfrm>
            <a:off x="8046720" y="1783080"/>
            <a:ext cx="3611880" cy="1417320"/>
          </a:xfrm>
          <a:prstGeom prst="roundRect">
            <a:avLst>
              <a:gd name="adj" fmla="val 5161"/>
            </a:avLst>
          </a:prstGeom>
          <a:solidFill>
            <a:srgbClr val="17233B"/>
          </a:solidFill>
          <a:ln/>
        </p:spPr>
      </p:sp>
      <p:sp>
        <p:nvSpPr>
          <p:cNvPr id="12" name="Text 10"/>
          <p:cNvSpPr/>
          <p:nvPr/>
        </p:nvSpPr>
        <p:spPr>
          <a:xfrm>
            <a:off x="8229600" y="1901952"/>
            <a:ext cx="3291840" cy="320040"/>
          </a:xfrm>
          <a:prstGeom prst="rect">
            <a:avLst/>
          </a:prstGeom>
          <a:noFill/>
          <a:ln/>
        </p:spPr>
        <p:txBody>
          <a:bodyPr wrap="square" rtlCol="0" anchor="ctr"/>
          <a:lstStyle/>
          <a:p>
            <a:pPr indent="0" marL="0">
              <a:buNone/>
            </a:pPr>
            <a:r>
              <a:rPr lang="en-US" sz="1350" b="1" dirty="0">
                <a:solidFill>
                  <a:srgbClr val="FF3621"/>
                </a:solidFill>
                <a:latin typeface="Cambria" pitchFamily="34" charset="0"/>
                <a:ea typeface="Cambria" pitchFamily="34" charset="-122"/>
                <a:cs typeface="Cambria" pitchFamily="34" charset="-120"/>
              </a:rPr>
              <a:t>Extension</a:t>
            </a:r>
            <a:endParaRPr lang="en-US" sz="1350" dirty="0"/>
          </a:p>
        </p:txBody>
      </p:sp>
      <p:sp>
        <p:nvSpPr>
          <p:cNvPr id="13" name="Text 11"/>
          <p:cNvSpPr/>
          <p:nvPr/>
        </p:nvSpPr>
        <p:spPr>
          <a:xfrm>
            <a:off x="8229600" y="2212848"/>
            <a:ext cx="3291840" cy="914400"/>
          </a:xfrm>
          <a:prstGeom prst="rect">
            <a:avLst/>
          </a:prstGeom>
          <a:noFill/>
          <a:ln/>
        </p:spPr>
        <p:txBody>
          <a:bodyPr wrap="square" rtlCol="0" anchor="ctr"/>
          <a:lstStyle/>
          <a:p>
            <a:pPr indent="0" marL="0">
              <a:lnSpc>
                <a:spcPts val="1300"/>
              </a:lnSpc>
              <a:buNone/>
            </a:pPr>
            <a:r>
              <a:rPr lang="en-US" sz="1050" dirty="0">
                <a:solidFill>
                  <a:srgbClr val="E7ECF6"/>
                </a:solidFill>
                <a:latin typeface="Calibri" pitchFamily="34" charset="0"/>
                <a:ea typeface="Calibri" pitchFamily="34" charset="-122"/>
                <a:cs typeface="Calibri" pitchFamily="34" charset="-120"/>
              </a:rPr>
              <a:t>.sql migrates to .sql; anything else (Unix, MLD, FLD, etc.) migrates to .py.</a:t>
            </a:r>
            <a:endParaRPr lang="en-US" sz="1050" dirty="0"/>
          </a:p>
        </p:txBody>
      </p:sp>
      <p:sp>
        <p:nvSpPr>
          <p:cNvPr id="14" name="Text 12"/>
          <p:cNvSpPr/>
          <p:nvPr/>
        </p:nvSpPr>
        <p:spPr>
          <a:xfrm>
            <a:off x="548640" y="3429000"/>
            <a:ext cx="9144000" cy="320040"/>
          </a:xfrm>
          <a:prstGeom prst="rect">
            <a:avLst/>
          </a:prstGeom>
          <a:noFill/>
          <a:ln/>
        </p:spPr>
        <p:txBody>
          <a:bodyPr wrap="square" rtlCol="0" anchor="ctr"/>
          <a:lstStyle/>
          <a:p>
            <a:pPr indent="0" marL="0">
              <a:buNone/>
            </a:pPr>
            <a:r>
              <a:rPr lang="en-US" sz="1500" b="1" dirty="0">
                <a:solidFill>
                  <a:srgbClr val="17233B"/>
                </a:solidFill>
                <a:latin typeface="Cambria" pitchFamily="34" charset="0"/>
                <a:ea typeface="Cambria" pitchFamily="34" charset="-122"/>
                <a:cs typeface="Cambria" pitchFamily="34" charset="-120"/>
              </a:rPr>
              <a:t>Catalog naming: Teradata (2-part) vs. Databricks (3-part)</a:t>
            </a:r>
            <a:endParaRPr lang="en-US" sz="1500" dirty="0"/>
          </a:p>
        </p:txBody>
      </p:sp>
      <p:sp>
        <p:nvSpPr>
          <p:cNvPr id="15" name="Shape 13"/>
          <p:cNvSpPr/>
          <p:nvPr/>
        </p:nvSpPr>
        <p:spPr>
          <a:xfrm>
            <a:off x="548640" y="3794760"/>
            <a:ext cx="5303520" cy="1371600"/>
          </a:xfrm>
          <a:prstGeom prst="roundRect">
            <a:avLst>
              <a:gd name="adj" fmla="val 5333"/>
            </a:avLst>
          </a:prstGeom>
          <a:solidFill>
            <a:srgbClr val="F5F6F8"/>
          </a:solidFill>
          <a:ln w="12700">
            <a:solidFill>
              <a:srgbClr val="E1E4EA"/>
            </a:solidFill>
            <a:prstDash val="solid"/>
          </a:ln>
        </p:spPr>
      </p:sp>
      <p:sp>
        <p:nvSpPr>
          <p:cNvPr id="16" name="Text 14"/>
          <p:cNvSpPr/>
          <p:nvPr/>
        </p:nvSpPr>
        <p:spPr>
          <a:xfrm>
            <a:off x="777240" y="3931920"/>
            <a:ext cx="4846320" cy="365760"/>
          </a:xfrm>
          <a:prstGeom prst="rect">
            <a:avLst/>
          </a:prstGeom>
          <a:noFill/>
          <a:ln/>
        </p:spPr>
        <p:txBody>
          <a:bodyPr wrap="square" rtlCol="0" anchor="ctr"/>
          <a:lstStyle/>
          <a:p>
            <a:pPr indent="0" marL="0">
              <a:buNone/>
            </a:pPr>
            <a:r>
              <a:rPr lang="en-US" sz="1300" b="1" dirty="0">
                <a:solidFill>
                  <a:srgbClr val="5C7285"/>
                </a:solidFill>
                <a:latin typeface="Calibri" pitchFamily="34" charset="0"/>
                <a:ea typeface="Calibri" pitchFamily="34" charset="-122"/>
                <a:cs typeface="Calibri" pitchFamily="34" charset="-120"/>
              </a:rPr>
              <a:t>Teradata: database.table</a:t>
            </a:r>
            <a:endParaRPr lang="en-US" sz="1300" dirty="0"/>
          </a:p>
        </p:txBody>
      </p:sp>
      <p:sp>
        <p:nvSpPr>
          <p:cNvPr id="17" name="Text 15"/>
          <p:cNvSpPr/>
          <p:nvPr/>
        </p:nvSpPr>
        <p:spPr>
          <a:xfrm>
            <a:off x="777240" y="4297680"/>
            <a:ext cx="4846320" cy="777240"/>
          </a:xfrm>
          <a:prstGeom prst="rect">
            <a:avLst/>
          </a:prstGeom>
          <a:noFill/>
          <a:ln/>
        </p:spPr>
        <p:txBody>
          <a:bodyPr wrap="square" rtlCol="0" anchor="ctr"/>
          <a:lstStyle/>
          <a:p>
            <a:pPr indent="0" marL="0">
              <a:lnSpc>
                <a:spcPts val="1400"/>
              </a:lnSpc>
              <a:buNone/>
            </a:pPr>
            <a:r>
              <a:rPr lang="en-US" sz="1150" dirty="0">
                <a:solidFill>
                  <a:srgbClr val="232B3A"/>
                </a:solidFill>
                <a:latin typeface="Calibri" pitchFamily="34" charset="0"/>
                <a:ea typeface="Calibri" pitchFamily="34" charset="-122"/>
                <a:cs typeface="Calibri" pitchFamily="34" charset="-120"/>
              </a:rPr>
              <a:t>Two-part naming — no catalog layer.</a:t>
            </a:r>
            <a:endParaRPr lang="en-US" sz="1150" dirty="0"/>
          </a:p>
        </p:txBody>
      </p:sp>
      <p:sp>
        <p:nvSpPr>
          <p:cNvPr id="18" name="Shape 16"/>
          <p:cNvSpPr/>
          <p:nvPr/>
        </p:nvSpPr>
        <p:spPr>
          <a:xfrm>
            <a:off x="6080760" y="3794760"/>
            <a:ext cx="5532120" cy="1371600"/>
          </a:xfrm>
          <a:prstGeom prst="roundRect">
            <a:avLst>
              <a:gd name="adj" fmla="val 5333"/>
            </a:avLst>
          </a:prstGeom>
          <a:solidFill>
            <a:srgbClr val="17233B"/>
          </a:solidFill>
          <a:ln/>
        </p:spPr>
      </p:sp>
      <p:sp>
        <p:nvSpPr>
          <p:cNvPr id="19" name="Text 17"/>
          <p:cNvSpPr/>
          <p:nvPr/>
        </p:nvSpPr>
        <p:spPr>
          <a:xfrm>
            <a:off x="6309360" y="3931920"/>
            <a:ext cx="5120640" cy="365760"/>
          </a:xfrm>
          <a:prstGeom prst="rect">
            <a:avLst/>
          </a:prstGeom>
          <a:noFill/>
          <a:ln/>
        </p:spPr>
        <p:txBody>
          <a:bodyPr wrap="square" rtlCol="0" anchor="ctr"/>
          <a:lstStyle/>
          <a:p>
            <a:pPr indent="0" marL="0">
              <a:buNone/>
            </a:pPr>
            <a:r>
              <a:rPr lang="en-US" sz="1300" b="1" dirty="0">
                <a:solidFill>
                  <a:srgbClr val="FF3621"/>
                </a:solidFill>
                <a:latin typeface="Calibri" pitchFamily="34" charset="0"/>
                <a:ea typeface="Calibri" pitchFamily="34" charset="-122"/>
                <a:cs typeface="Calibri" pitchFamily="34" charset="-120"/>
              </a:rPr>
              <a:t>Databricks: catalog.schema.table</a:t>
            </a:r>
            <a:endParaRPr lang="en-US" sz="1300" dirty="0"/>
          </a:p>
        </p:txBody>
      </p:sp>
      <p:sp>
        <p:nvSpPr>
          <p:cNvPr id="20" name="Text 18"/>
          <p:cNvSpPr/>
          <p:nvPr/>
        </p:nvSpPr>
        <p:spPr>
          <a:xfrm>
            <a:off x="6309360" y="4297680"/>
            <a:ext cx="5120640" cy="822960"/>
          </a:xfrm>
          <a:prstGeom prst="rect">
            <a:avLst/>
          </a:prstGeom>
          <a:noFill/>
          <a:ln/>
        </p:spPr>
        <p:txBody>
          <a:bodyPr wrap="square" rtlCol="0" anchor="ctr"/>
          <a:lstStyle/>
          <a:p>
            <a:pPr indent="0" marL="0">
              <a:lnSpc>
                <a:spcPts val="1300"/>
              </a:lnSpc>
              <a:buNone/>
            </a:pPr>
            <a:r>
              <a:rPr lang="en-US" sz="1100" dirty="0">
                <a:solidFill>
                  <a:srgbClr val="E7ECF6"/>
                </a:solidFill>
                <a:latin typeface="Calibri" pitchFamily="34" charset="0"/>
                <a:ea typeface="Calibri" pitchFamily="34" charset="-122"/>
                <a:cs typeface="Calibri" pitchFamily="34" charset="-120"/>
              </a:rPr>
              <a:t>Three-part naming. The catalog assigns ownership — e.g. every B2B table lives under the B2B catalog, every ADW table under the ADW catalog, regardless of which script writes it.</a:t>
            </a:r>
            <a:endParaRPr lang="en-US" sz="1100" dirty="0"/>
          </a:p>
        </p:txBody>
      </p:sp>
      <p:sp>
        <p:nvSpPr>
          <p:cNvPr id="21" name="Text 19"/>
          <p:cNvSpPr/>
          <p:nvPr/>
        </p:nvSpPr>
        <p:spPr>
          <a:xfrm>
            <a:off x="548640" y="5349240"/>
            <a:ext cx="11064240" cy="365760"/>
          </a:xfrm>
          <a:prstGeom prst="rect">
            <a:avLst/>
          </a:prstGeom>
          <a:noFill/>
          <a:ln/>
        </p:spPr>
        <p:txBody>
          <a:bodyPr wrap="square" rtlCol="0" anchor="ctr"/>
          <a:lstStyle/>
          <a:p>
            <a:pPr indent="0" marL="0">
              <a:buNone/>
            </a:pPr>
            <a:r>
              <a:rPr lang="en-US" sz="1200" i="1" dirty="0">
                <a:solidFill>
                  <a:srgbClr val="5C7285"/>
                </a:solidFill>
                <a:latin typeface="Calibri" pitchFamily="34" charset="0"/>
                <a:ea typeface="Calibri" pitchFamily="34" charset="-122"/>
                <a:cs typeface="Calibri" pitchFamily="34" charset="-120"/>
              </a:rPr>
              <a:t>Example catalog: ODP_ADW_RevenueManagement_&lt;env_id&gt;  —  schema names typically carry over unchanged from Teradata.</a:t>
            </a:r>
            <a:endParaRPr lang="en-US" sz="1200" dirty="0"/>
          </a:p>
        </p:txBody>
      </p:sp>
      <p:sp>
        <p:nvSpPr>
          <p:cNvPr id="22" name="Text 20"/>
          <p:cNvSpPr/>
          <p:nvPr/>
        </p:nvSpPr>
        <p:spPr>
          <a:xfrm>
            <a:off x="548640" y="5806440"/>
            <a:ext cx="11064240" cy="365760"/>
          </a:xfrm>
          <a:prstGeom prst="rect">
            <a:avLst/>
          </a:prstGeom>
          <a:noFill/>
          <a:ln/>
        </p:spPr>
        <p:txBody>
          <a:bodyPr wrap="square" rtlCol="0" anchor="ctr"/>
          <a:lstStyle/>
          <a:p>
            <a:pPr indent="0" marL="0">
              <a:buNone/>
            </a:pPr>
            <a:r>
              <a:rPr lang="en-US" sz="1200" dirty="0">
                <a:solidFill>
                  <a:srgbClr val="5C7285"/>
                </a:solidFill>
                <a:latin typeface="Calibri" pitchFamily="34" charset="0"/>
                <a:ea typeface="Calibri" pitchFamily="34" charset="-122"/>
                <a:cs typeface="Calibri" pitchFamily="34" charset="-120"/>
              </a:rPr>
              <a:t>Stream types: IMP (import) · EXP (export) · INT (intermediate)  —  reported categories used by the client to describe each stream's role.</a:t>
            </a:r>
            <a:endParaRPr lang="en-US" sz="1200" dirty="0"/>
          </a:p>
        </p:txBody>
      </p:sp>
      <p:sp>
        <p:nvSpPr>
          <p:cNvPr id="23" name="Text 21"/>
          <p:cNvSpPr/>
          <p:nvPr/>
        </p:nvSpPr>
        <p:spPr>
          <a:xfrm>
            <a:off x="457200" y="6519672"/>
            <a:ext cx="7315200" cy="274320"/>
          </a:xfrm>
          <a:prstGeom prst="rect">
            <a:avLst/>
          </a:prstGeom>
          <a:noFill/>
          <a:ln/>
        </p:spPr>
        <p:txBody>
          <a:bodyPr wrap="square" rtlCol="0" anchor="ctr"/>
          <a:lstStyle/>
          <a:p>
            <a:pPr algn="l" indent="0" marL="0">
              <a:buNone/>
            </a:pPr>
            <a:r>
              <a:rPr lang="en-US" sz="900" b="1" spc="100" kern="0" dirty="0">
                <a:solidFill>
                  <a:srgbClr val="8D9AAE"/>
                </a:solidFill>
                <a:latin typeface="Calibri" pitchFamily="34" charset="0"/>
                <a:ea typeface="Calibri" pitchFamily="34" charset="-122"/>
                <a:cs typeface="Calibri" pitchFamily="34" charset="-120"/>
              </a:rPr>
              <a:t>POD LEAD HOUR</a:t>
            </a:r>
            <a:endParaRPr lang="en-US" sz="900" dirty="0"/>
          </a:p>
        </p:txBody>
      </p:sp>
      <p:sp>
        <p:nvSpPr>
          <p:cNvPr id="24" name="Text 22"/>
          <p:cNvSpPr/>
          <p:nvPr/>
        </p:nvSpPr>
        <p:spPr>
          <a:xfrm>
            <a:off x="11274552" y="6519672"/>
            <a:ext cx="457200" cy="274320"/>
          </a:xfrm>
          <a:prstGeom prst="rect">
            <a:avLst/>
          </a:prstGeom>
          <a:noFill/>
          <a:ln/>
        </p:spPr>
        <p:txBody>
          <a:bodyPr wrap="square" rtlCol="0" anchor="ctr"/>
          <a:lstStyle/>
          <a:p>
            <a:pPr algn="r" indent="0" marL="0">
              <a:buNone/>
            </a:pPr>
            <a:r>
              <a:rPr lang="en-US" sz="900" dirty="0">
                <a:solidFill>
                  <a:srgbClr val="8D9AAE"/>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rtlCol="0" anchor="ctr"/>
          <a:lstStyle/>
          <a:p>
            <a:pPr indent="0" marL="0">
              <a:buNone/>
            </a:pPr>
            <a:r>
              <a:rPr lang="en-US" sz="1200" b="1" spc="120" kern="0" dirty="0">
                <a:solidFill>
                  <a:srgbClr val="FF3621"/>
                </a:solidFill>
                <a:latin typeface="Calibri" pitchFamily="34" charset="0"/>
                <a:ea typeface="Calibri" pitchFamily="34" charset="-122"/>
                <a:cs typeface="Calibri" pitchFamily="34" charset="-120"/>
              </a:rPr>
              <a:t>CONVENTIONS</a:t>
            </a:r>
            <a:endParaRPr lang="en-US" sz="1200" dirty="0"/>
          </a:p>
        </p:txBody>
      </p:sp>
      <p:sp>
        <p:nvSpPr>
          <p:cNvPr id="3" name="Text 1"/>
          <p:cNvSpPr/>
          <p:nvPr/>
        </p:nvSpPr>
        <p:spPr>
          <a:xfrm>
            <a:off x="548640" y="685800"/>
            <a:ext cx="10789920" cy="640080"/>
          </a:xfrm>
          <a:prstGeom prst="rect">
            <a:avLst/>
          </a:prstGeom>
          <a:noFill/>
          <a:ln/>
        </p:spPr>
        <p:txBody>
          <a:bodyPr wrap="square" rtlCol="0" anchor="ctr"/>
          <a:lstStyle/>
          <a:p>
            <a:pPr algn="l" indent="0" marL="0">
              <a:buNone/>
            </a:pPr>
            <a:r>
              <a:rPr lang="en-US" sz="3000" b="1" dirty="0">
                <a:solidFill>
                  <a:srgbClr val="17233B"/>
                </a:solidFill>
                <a:latin typeface="Cambria" pitchFamily="34" charset="0"/>
                <a:ea typeface="Cambria" pitchFamily="34" charset="-122"/>
                <a:cs typeface="Cambria" pitchFamily="34" charset="-120"/>
              </a:rPr>
              <a:t>The four table types — defined per script, not per stream</a:t>
            </a:r>
            <a:endParaRPr lang="en-US" sz="3000" dirty="0"/>
          </a:p>
        </p:txBody>
      </p:sp>
      <p:sp>
        <p:nvSpPr>
          <p:cNvPr id="4" name="Text 2"/>
          <p:cNvSpPr/>
          <p:nvPr/>
        </p:nvSpPr>
        <p:spPr>
          <a:xfrm>
            <a:off x="548640" y="1371600"/>
            <a:ext cx="10881360" cy="365760"/>
          </a:xfrm>
          <a:prstGeom prst="rect">
            <a:avLst/>
          </a:prstGeom>
          <a:noFill/>
          <a:ln/>
        </p:spPr>
        <p:txBody>
          <a:bodyPr wrap="square" rtlCol="0" anchor="ctr"/>
          <a:lstStyle/>
          <a:p>
            <a:pPr indent="0" marL="0">
              <a:buNone/>
            </a:pPr>
            <a:r>
              <a:rPr lang="en-US" sz="1300" dirty="0">
                <a:solidFill>
                  <a:srgbClr val="5C7285"/>
                </a:solidFill>
                <a:latin typeface="Calibri" pitchFamily="34" charset="0"/>
                <a:ea typeface="Calibri" pitchFamily="34" charset="-122"/>
                <a:cs typeface="Calibri" pitchFamily="34" charset="-120"/>
              </a:rPr>
              <a:t>A table can be a source in script 02 and a target in script 03. Always read “source/target” at the script level.</a:t>
            </a:r>
            <a:endParaRPr lang="en-US" sz="1300" dirty="0"/>
          </a:p>
        </p:txBody>
      </p:sp>
      <p:sp>
        <p:nvSpPr>
          <p:cNvPr id="5" name="Shape 3"/>
          <p:cNvSpPr/>
          <p:nvPr/>
        </p:nvSpPr>
        <p:spPr>
          <a:xfrm>
            <a:off x="548640" y="1965960"/>
            <a:ext cx="2697480" cy="1645920"/>
          </a:xfrm>
          <a:prstGeom prst="roundRect">
            <a:avLst>
              <a:gd name="adj" fmla="val 4444"/>
            </a:avLst>
          </a:prstGeom>
          <a:solidFill>
            <a:srgbClr val="5C7285"/>
          </a:solidFill>
          <a:ln/>
        </p:spPr>
      </p:sp>
      <p:sp>
        <p:nvSpPr>
          <p:cNvPr id="6" name="Text 4"/>
          <p:cNvSpPr/>
          <p:nvPr/>
        </p:nvSpPr>
        <p:spPr>
          <a:xfrm>
            <a:off x="731520" y="2103120"/>
            <a:ext cx="2377440" cy="365760"/>
          </a:xfrm>
          <a:prstGeom prst="rect">
            <a:avLst/>
          </a:prstGeom>
          <a:noFill/>
          <a:ln/>
        </p:spPr>
        <p:txBody>
          <a:bodyPr wrap="square"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Source</a:t>
            </a:r>
            <a:endParaRPr lang="en-US" sz="1500" dirty="0"/>
          </a:p>
        </p:txBody>
      </p:sp>
      <p:sp>
        <p:nvSpPr>
          <p:cNvPr id="7" name="Text 5"/>
          <p:cNvSpPr/>
          <p:nvPr/>
        </p:nvSpPr>
        <p:spPr>
          <a:xfrm>
            <a:off x="731520" y="2487168"/>
            <a:ext cx="2377440" cy="1051560"/>
          </a:xfrm>
          <a:prstGeom prst="rect">
            <a:avLst/>
          </a:prstGeom>
          <a:noFill/>
          <a:ln/>
        </p:spPr>
        <p:txBody>
          <a:bodyPr wrap="square" rtlCol="0" anchor="ctr"/>
          <a:lstStyle/>
          <a:p>
            <a:pPr indent="0" marL="0">
              <a:lnSpc>
                <a:spcPts val="1350"/>
              </a:lnSpc>
              <a:buNone/>
            </a:pPr>
            <a:r>
              <a:rPr lang="en-US" sz="1100" dirty="0">
                <a:solidFill>
                  <a:srgbClr val="F1F3F8"/>
                </a:solidFill>
                <a:latin typeface="Calibri" pitchFamily="34" charset="0"/>
                <a:ea typeface="Calibri" pitchFamily="34" charset="-122"/>
                <a:cs typeface="Calibri" pitchFamily="34" charset="-120"/>
              </a:rPr>
              <a:t>Purely read in this script — not written by any DML here.</a:t>
            </a:r>
            <a:endParaRPr lang="en-US" sz="1100" dirty="0"/>
          </a:p>
        </p:txBody>
      </p:sp>
      <p:sp>
        <p:nvSpPr>
          <p:cNvPr id="8" name="Shape 6"/>
          <p:cNvSpPr/>
          <p:nvPr/>
        </p:nvSpPr>
        <p:spPr>
          <a:xfrm>
            <a:off x="3337560" y="1965960"/>
            <a:ext cx="2697480" cy="1645920"/>
          </a:xfrm>
          <a:prstGeom prst="roundRect">
            <a:avLst>
              <a:gd name="adj" fmla="val 4444"/>
            </a:avLst>
          </a:prstGeom>
          <a:solidFill>
            <a:srgbClr val="17233B"/>
          </a:solidFill>
          <a:ln/>
        </p:spPr>
      </p:sp>
      <p:sp>
        <p:nvSpPr>
          <p:cNvPr id="9" name="Text 7"/>
          <p:cNvSpPr/>
          <p:nvPr/>
        </p:nvSpPr>
        <p:spPr>
          <a:xfrm>
            <a:off x="3520440" y="2103120"/>
            <a:ext cx="2377440" cy="365760"/>
          </a:xfrm>
          <a:prstGeom prst="rect">
            <a:avLst/>
          </a:prstGeom>
          <a:noFill/>
          <a:ln/>
        </p:spPr>
        <p:txBody>
          <a:bodyPr wrap="square"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Target</a:t>
            </a:r>
            <a:endParaRPr lang="en-US" sz="1500" dirty="0"/>
          </a:p>
        </p:txBody>
      </p:sp>
      <p:sp>
        <p:nvSpPr>
          <p:cNvPr id="10" name="Text 8"/>
          <p:cNvSpPr/>
          <p:nvPr/>
        </p:nvSpPr>
        <p:spPr>
          <a:xfrm>
            <a:off x="3520440" y="2487168"/>
            <a:ext cx="2377440" cy="1051560"/>
          </a:xfrm>
          <a:prstGeom prst="rect">
            <a:avLst/>
          </a:prstGeom>
          <a:noFill/>
          <a:ln/>
        </p:spPr>
        <p:txBody>
          <a:bodyPr wrap="square" rtlCol="0" anchor="ctr"/>
          <a:lstStyle/>
          <a:p>
            <a:pPr indent="0" marL="0">
              <a:lnSpc>
                <a:spcPts val="1350"/>
              </a:lnSpc>
              <a:buNone/>
            </a:pPr>
            <a:r>
              <a:rPr lang="en-US" sz="1100" dirty="0">
                <a:solidFill>
                  <a:srgbClr val="F1F3F8"/>
                </a:solidFill>
                <a:latin typeface="Calibri" pitchFamily="34" charset="0"/>
                <a:ea typeface="Calibri" pitchFamily="34" charset="-122"/>
                <a:cs typeface="Calibri" pitchFamily="34" charset="-120"/>
              </a:rPr>
              <a:t>Written to in this script (insert / update / merge / overwrite / delete).</a:t>
            </a:r>
            <a:endParaRPr lang="en-US" sz="1100" dirty="0"/>
          </a:p>
        </p:txBody>
      </p:sp>
      <p:sp>
        <p:nvSpPr>
          <p:cNvPr id="11" name="Shape 9"/>
          <p:cNvSpPr/>
          <p:nvPr/>
        </p:nvSpPr>
        <p:spPr>
          <a:xfrm>
            <a:off x="6126480" y="1965960"/>
            <a:ext cx="2697480" cy="1645920"/>
          </a:xfrm>
          <a:prstGeom prst="roundRect">
            <a:avLst>
              <a:gd name="adj" fmla="val 4444"/>
            </a:avLst>
          </a:prstGeom>
          <a:solidFill>
            <a:srgbClr val="3A4E7A"/>
          </a:solidFill>
          <a:ln/>
        </p:spPr>
      </p:sp>
      <p:sp>
        <p:nvSpPr>
          <p:cNvPr id="12" name="Text 10"/>
          <p:cNvSpPr/>
          <p:nvPr/>
        </p:nvSpPr>
        <p:spPr>
          <a:xfrm>
            <a:off x="6309360" y="2103120"/>
            <a:ext cx="2377440" cy="365760"/>
          </a:xfrm>
          <a:prstGeom prst="rect">
            <a:avLst/>
          </a:prstGeom>
          <a:noFill/>
          <a:ln/>
        </p:spPr>
        <p:txBody>
          <a:bodyPr wrap="square"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Target Trans</a:t>
            </a:r>
            <a:endParaRPr lang="en-US" sz="1500" dirty="0"/>
          </a:p>
        </p:txBody>
      </p:sp>
      <p:sp>
        <p:nvSpPr>
          <p:cNvPr id="13" name="Text 11"/>
          <p:cNvSpPr/>
          <p:nvPr/>
        </p:nvSpPr>
        <p:spPr>
          <a:xfrm>
            <a:off x="6309360" y="2487168"/>
            <a:ext cx="2377440" cy="1051560"/>
          </a:xfrm>
          <a:prstGeom prst="rect">
            <a:avLst/>
          </a:prstGeom>
          <a:noFill/>
          <a:ln/>
        </p:spPr>
        <p:txBody>
          <a:bodyPr wrap="square" rtlCol="0" anchor="ctr"/>
          <a:lstStyle/>
          <a:p>
            <a:pPr indent="0" marL="0">
              <a:lnSpc>
                <a:spcPts val="1350"/>
              </a:lnSpc>
              <a:buNone/>
            </a:pPr>
            <a:r>
              <a:rPr lang="en-US" sz="1100" dirty="0">
                <a:solidFill>
                  <a:srgbClr val="F1F3F8"/>
                </a:solidFill>
                <a:latin typeface="Calibri" pitchFamily="34" charset="0"/>
                <a:ea typeface="Calibri" pitchFamily="34" charset="-122"/>
                <a:cs typeface="Calibri" pitchFamily="34" charset="-120"/>
              </a:rPr>
              <a:t>An intermediate (“DB_trans”) table, created first, before it's ever used as a source.</a:t>
            </a:r>
            <a:endParaRPr lang="en-US" sz="1100" dirty="0"/>
          </a:p>
        </p:txBody>
      </p:sp>
      <p:sp>
        <p:nvSpPr>
          <p:cNvPr id="14" name="Shape 12"/>
          <p:cNvSpPr/>
          <p:nvPr/>
        </p:nvSpPr>
        <p:spPr>
          <a:xfrm>
            <a:off x="8915400" y="1965960"/>
            <a:ext cx="2697480" cy="1645920"/>
          </a:xfrm>
          <a:prstGeom prst="roundRect">
            <a:avLst>
              <a:gd name="adj" fmla="val 4444"/>
            </a:avLst>
          </a:prstGeom>
          <a:solidFill>
            <a:srgbClr val="5C7285"/>
          </a:solidFill>
          <a:ln/>
        </p:spPr>
      </p:sp>
      <p:sp>
        <p:nvSpPr>
          <p:cNvPr id="15" name="Text 13"/>
          <p:cNvSpPr/>
          <p:nvPr/>
        </p:nvSpPr>
        <p:spPr>
          <a:xfrm>
            <a:off x="9098280" y="2103120"/>
            <a:ext cx="2377440" cy="365760"/>
          </a:xfrm>
          <a:prstGeom prst="rect">
            <a:avLst/>
          </a:prstGeom>
          <a:noFill/>
          <a:ln/>
        </p:spPr>
        <p:txBody>
          <a:bodyPr wrap="square"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Source Trans</a:t>
            </a:r>
            <a:endParaRPr lang="en-US" sz="1500" dirty="0"/>
          </a:p>
        </p:txBody>
      </p:sp>
      <p:sp>
        <p:nvSpPr>
          <p:cNvPr id="16" name="Text 14"/>
          <p:cNvSpPr/>
          <p:nvPr/>
        </p:nvSpPr>
        <p:spPr>
          <a:xfrm>
            <a:off x="9098280" y="2487168"/>
            <a:ext cx="2377440" cy="1051560"/>
          </a:xfrm>
          <a:prstGeom prst="rect">
            <a:avLst/>
          </a:prstGeom>
          <a:noFill/>
          <a:ln/>
        </p:spPr>
        <p:txBody>
          <a:bodyPr wrap="square" rtlCol="0" anchor="ctr"/>
          <a:lstStyle/>
          <a:p>
            <a:pPr indent="0" marL="0">
              <a:lnSpc>
                <a:spcPts val="1350"/>
              </a:lnSpc>
              <a:buNone/>
            </a:pPr>
            <a:r>
              <a:rPr lang="en-US" sz="1100" dirty="0">
                <a:solidFill>
                  <a:srgbClr val="F1F3F8"/>
                </a:solidFill>
                <a:latin typeface="Calibri" pitchFamily="34" charset="0"/>
                <a:ea typeface="Calibri" pitchFamily="34" charset="-122"/>
                <a:cs typeface="Calibri" pitchFamily="34" charset="-120"/>
              </a:rPr>
              <a:t>The same intermediate table, now being read — always created after its Target Trans counterpart.</a:t>
            </a:r>
            <a:endParaRPr lang="en-US" sz="1100" dirty="0"/>
          </a:p>
        </p:txBody>
      </p:sp>
      <p:sp>
        <p:nvSpPr>
          <p:cNvPr id="17" name="Text 15"/>
          <p:cNvSpPr/>
          <p:nvPr/>
        </p:nvSpPr>
        <p:spPr>
          <a:xfrm>
            <a:off x="548640" y="3931920"/>
            <a:ext cx="7315200" cy="320040"/>
          </a:xfrm>
          <a:prstGeom prst="rect">
            <a:avLst/>
          </a:prstGeom>
          <a:noFill/>
          <a:ln/>
        </p:spPr>
        <p:txBody>
          <a:bodyPr wrap="square" rtlCol="0" anchor="ctr"/>
          <a:lstStyle/>
          <a:p>
            <a:pPr indent="0" marL="0">
              <a:buNone/>
            </a:pPr>
            <a:r>
              <a:rPr lang="en-US" sz="1500" b="1" dirty="0">
                <a:solidFill>
                  <a:srgbClr val="17233B"/>
                </a:solidFill>
                <a:latin typeface="Cambria" pitchFamily="34" charset="0"/>
                <a:ea typeface="Cambria" pitchFamily="34" charset="-122"/>
                <a:cs typeface="Cambria" pitchFamily="34" charset="-120"/>
              </a:rPr>
              <a:t>Two rules of thumb</a:t>
            </a:r>
            <a:endParaRPr lang="en-US" sz="1500" dirty="0"/>
          </a:p>
        </p:txBody>
      </p:sp>
      <p:sp>
        <p:nvSpPr>
          <p:cNvPr id="18" name="Text 16"/>
          <p:cNvSpPr/>
          <p:nvPr/>
        </p:nvSpPr>
        <p:spPr>
          <a:xfrm>
            <a:off x="548640" y="4297680"/>
            <a:ext cx="10881360" cy="822960"/>
          </a:xfrm>
          <a:prstGeom prst="rect">
            <a:avLst/>
          </a:prstGeom>
          <a:noFill/>
          <a:ln/>
        </p:spPr>
        <p:txBody>
          <a:bodyPr wrap="square" rtlCol="0" anchor="ctr"/>
          <a:lstStyle/>
          <a:p>
            <a:pPr indent="0" marL="0">
              <a:lnSpc>
                <a:spcPts val="1800"/>
              </a:lnSpc>
              <a:buNone/>
            </a:pPr>
            <a:r>
              <a:rPr lang="en-US" sz="1350" b="1" dirty="0">
                <a:solidFill>
                  <a:srgbClr val="232B3A"/>
                </a:solidFill>
                <a:latin typeface="Calibri" pitchFamily="34" charset="0"/>
                <a:ea typeface="Calibri" pitchFamily="34" charset="-122"/>
                <a:cs typeface="Calibri" pitchFamily="34" charset="-120"/>
              </a:rPr>
              <a:t>1. Trans tables are truncate-and-load </a:t>
            </a:r>
            <a:pPr indent="0" marL="0">
              <a:lnSpc>
                <a:spcPts val="1800"/>
              </a:lnSpc>
              <a:buNone/>
            </a:pPr>
            <a:r>
              <a:rPr lang="en-US" sz="1350" dirty="0">
                <a:solidFill>
                  <a:srgbClr val="232B3A"/>
                </a:solidFill>
                <a:latin typeface="Calibri" pitchFamily="34" charset="0"/>
                <a:ea typeface="Calibri" pitchFamily="34" charset="-122"/>
                <a:cs typeface="Calibri" pitchFamily="34" charset="-120"/>
              </a:rPr>
              <a:t>in ~90% of cases — flag the rare exception to your pod lead.
</a:t>
            </a:r>
            <a:pPr indent="0" marL="0">
              <a:lnSpc>
                <a:spcPts val="1800"/>
              </a:lnSpc>
              <a:buNone/>
            </a:pPr>
            <a:r>
              <a:rPr lang="en-US" sz="1350" b="1" dirty="0">
                <a:solidFill>
                  <a:srgbClr val="232B3A"/>
                </a:solidFill>
                <a:latin typeface="Calibri" pitchFamily="34" charset="0"/>
                <a:ea typeface="Calibri" pitchFamily="34" charset="-122"/>
                <a:cs typeface="Calibri" pitchFamily="34" charset="-120"/>
              </a:rPr>
              <a:t>2. Target trans always exists before source trans </a:t>
            </a:r>
            <a:pPr indent="0" marL="0">
              <a:lnSpc>
                <a:spcPts val="1800"/>
              </a:lnSpc>
              <a:buNone/>
            </a:pPr>
            <a:r>
              <a:rPr lang="en-US" sz="1350" dirty="0">
                <a:solidFill>
                  <a:srgbClr val="232B3A"/>
                </a:solidFill>
                <a:latin typeface="Calibri" pitchFamily="34" charset="0"/>
                <a:ea typeface="Calibri" pitchFamily="34" charset="-122"/>
                <a:cs typeface="Calibri" pitchFamily="34" charset="-120"/>
              </a:rPr>
              <a:t>for the same table — you can't read an intermediate table that hasn't been created yet.</a:t>
            </a:r>
            <a:endParaRPr lang="en-US" sz="1350" dirty="0"/>
          </a:p>
        </p:txBody>
      </p:sp>
      <p:sp>
        <p:nvSpPr>
          <p:cNvPr id="19" name="Shape 17"/>
          <p:cNvSpPr/>
          <p:nvPr/>
        </p:nvSpPr>
        <p:spPr>
          <a:xfrm>
            <a:off x="548640" y="5257800"/>
            <a:ext cx="11064240" cy="1051560"/>
          </a:xfrm>
          <a:prstGeom prst="roundRect">
            <a:avLst>
              <a:gd name="adj" fmla="val 6957"/>
            </a:avLst>
          </a:prstGeom>
          <a:solidFill>
            <a:srgbClr val="F5F6F8"/>
          </a:solidFill>
          <a:ln w="12700">
            <a:solidFill>
              <a:srgbClr val="E1E4EA"/>
            </a:solidFill>
            <a:prstDash val="solid"/>
          </a:ln>
        </p:spPr>
      </p:sp>
      <p:sp>
        <p:nvSpPr>
          <p:cNvPr id="20" name="Text 18"/>
          <p:cNvSpPr/>
          <p:nvPr/>
        </p:nvSpPr>
        <p:spPr>
          <a:xfrm>
            <a:off x="777240" y="5376672"/>
            <a:ext cx="10607040" cy="822960"/>
          </a:xfrm>
          <a:prstGeom prst="rect">
            <a:avLst/>
          </a:prstGeom>
          <a:noFill/>
          <a:ln/>
        </p:spPr>
        <p:txBody>
          <a:bodyPr wrap="square" rtlCol="0" anchor="ctr"/>
          <a:lstStyle/>
          <a:p>
            <a:pPr indent="0" marL="0">
              <a:lnSpc>
                <a:spcPts val="1400"/>
              </a:lnSpc>
              <a:buNone/>
            </a:pPr>
            <a:r>
              <a:rPr lang="en-US" sz="1150" dirty="0">
                <a:solidFill>
                  <a:srgbClr val="5C7285"/>
                </a:solidFill>
                <a:latin typeface="Calibri" pitchFamily="34" charset="0"/>
                <a:ea typeface="Calibri" pitchFamily="34" charset="-122"/>
                <a:cs typeface="Calibri" pitchFamily="34" charset="-120"/>
              </a:rPr>
              <a:t>Reference sheet: the project tracks this per stream in a master Excel (columns include scope, community number, stream type, subfolder, script prefix, table type, and the flags on the next slide). Ask your pod lead for access if you don't have it yet.</a:t>
            </a:r>
            <a:endParaRPr lang="en-US" sz="1150" dirty="0"/>
          </a:p>
        </p:txBody>
      </p:sp>
      <p:sp>
        <p:nvSpPr>
          <p:cNvPr id="21" name="Text 19"/>
          <p:cNvSpPr/>
          <p:nvPr/>
        </p:nvSpPr>
        <p:spPr>
          <a:xfrm>
            <a:off x="457200" y="6519672"/>
            <a:ext cx="7315200" cy="274320"/>
          </a:xfrm>
          <a:prstGeom prst="rect">
            <a:avLst/>
          </a:prstGeom>
          <a:noFill/>
          <a:ln/>
        </p:spPr>
        <p:txBody>
          <a:bodyPr wrap="square" rtlCol="0" anchor="ctr"/>
          <a:lstStyle/>
          <a:p>
            <a:pPr algn="l" indent="0" marL="0">
              <a:buNone/>
            </a:pPr>
            <a:r>
              <a:rPr lang="en-US" sz="900" b="1" spc="100" kern="0" dirty="0">
                <a:solidFill>
                  <a:srgbClr val="8D9AAE"/>
                </a:solidFill>
                <a:latin typeface="Calibri" pitchFamily="34" charset="0"/>
                <a:ea typeface="Calibri" pitchFamily="34" charset="-122"/>
                <a:cs typeface="Calibri" pitchFamily="34" charset="-120"/>
              </a:rPr>
              <a:t>POD LEAD HOUR</a:t>
            </a:r>
            <a:endParaRPr lang="en-US" sz="900" dirty="0"/>
          </a:p>
        </p:txBody>
      </p:sp>
      <p:sp>
        <p:nvSpPr>
          <p:cNvPr id="22" name="Text 20"/>
          <p:cNvSpPr/>
          <p:nvPr/>
        </p:nvSpPr>
        <p:spPr>
          <a:xfrm>
            <a:off x="11274552" y="6519672"/>
            <a:ext cx="457200" cy="274320"/>
          </a:xfrm>
          <a:prstGeom prst="rect">
            <a:avLst/>
          </a:prstGeom>
          <a:noFill/>
          <a:ln/>
        </p:spPr>
        <p:txBody>
          <a:bodyPr wrap="square" rtlCol="0" anchor="ctr"/>
          <a:lstStyle/>
          <a:p>
            <a:pPr algn="r" indent="0" marL="0">
              <a:buNone/>
            </a:pPr>
            <a:r>
              <a:rPr lang="en-US" sz="900" dirty="0">
                <a:solidFill>
                  <a:srgbClr val="8D9AAE"/>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rtlCol="0" anchor="ctr"/>
          <a:lstStyle/>
          <a:p>
            <a:pPr indent="0" marL="0">
              <a:buNone/>
            </a:pPr>
            <a:r>
              <a:rPr lang="en-US" sz="1200" b="1" spc="120" kern="0" dirty="0">
                <a:solidFill>
                  <a:srgbClr val="FF3621"/>
                </a:solidFill>
                <a:latin typeface="Calibri" pitchFamily="34" charset="0"/>
                <a:ea typeface="Calibri" pitchFamily="34" charset="-122"/>
                <a:cs typeface="Calibri" pitchFamily="34" charset="-120"/>
              </a:rPr>
              <a:t>DATA</a:t>
            </a:r>
            <a:endParaRPr lang="en-US" sz="1200" dirty="0"/>
          </a:p>
        </p:txBody>
      </p:sp>
      <p:sp>
        <p:nvSpPr>
          <p:cNvPr id="3" name="Text 1"/>
          <p:cNvSpPr/>
          <p:nvPr/>
        </p:nvSpPr>
        <p:spPr>
          <a:xfrm>
            <a:off x="548640" y="685800"/>
            <a:ext cx="10789920" cy="640080"/>
          </a:xfrm>
          <a:prstGeom prst="rect">
            <a:avLst/>
          </a:prstGeom>
          <a:noFill/>
          <a:ln/>
        </p:spPr>
        <p:txBody>
          <a:bodyPr wrap="square" rtlCol="0" anchor="ctr"/>
          <a:lstStyle/>
          <a:p>
            <a:pPr algn="l" indent="0" marL="0">
              <a:buNone/>
            </a:pPr>
            <a:r>
              <a:rPr lang="en-US" sz="3000" b="1" dirty="0">
                <a:solidFill>
                  <a:srgbClr val="17233B"/>
                </a:solidFill>
                <a:latin typeface="Cambria" pitchFamily="34" charset="0"/>
                <a:ea typeface="Cambria" pitchFamily="34" charset="-122"/>
                <a:cs typeface="Cambria" pitchFamily="34" charset="-120"/>
              </a:rPr>
              <a:t>Where your data actually comes from</a:t>
            </a:r>
            <a:endParaRPr lang="en-US" sz="3000" dirty="0"/>
          </a:p>
        </p:txBody>
      </p:sp>
      <p:sp>
        <p:nvSpPr>
          <p:cNvPr id="4" name="Shape 2"/>
          <p:cNvSpPr/>
          <p:nvPr/>
        </p:nvSpPr>
        <p:spPr>
          <a:xfrm>
            <a:off x="548640" y="1783080"/>
            <a:ext cx="11064240" cy="1170432"/>
          </a:xfrm>
          <a:prstGeom prst="roundRect">
            <a:avLst>
              <a:gd name="adj" fmla="val 6250"/>
            </a:avLst>
          </a:prstGeom>
          <a:solidFill>
            <a:srgbClr val="F5F6F8"/>
          </a:solidFill>
          <a:ln w="12700">
            <a:solidFill>
              <a:srgbClr val="E1E4EA"/>
            </a:solidFill>
            <a:prstDash val="solid"/>
          </a:ln>
        </p:spPr>
      </p:sp>
      <p:sp>
        <p:nvSpPr>
          <p:cNvPr id="5" name="Text 3"/>
          <p:cNvSpPr/>
          <p:nvPr/>
        </p:nvSpPr>
        <p:spPr>
          <a:xfrm>
            <a:off x="777240" y="1892808"/>
            <a:ext cx="2743200" cy="914400"/>
          </a:xfrm>
          <a:prstGeom prst="rect">
            <a:avLst/>
          </a:prstGeom>
          <a:noFill/>
          <a:ln/>
        </p:spPr>
        <p:txBody>
          <a:bodyPr wrap="square" rtlCol="0" anchor="ctr"/>
          <a:lstStyle/>
          <a:p>
            <a:pPr indent="0" marL="0">
              <a:buNone/>
            </a:pPr>
            <a:r>
              <a:rPr lang="en-US" sz="1400" b="1" dirty="0">
                <a:solidFill>
                  <a:srgbClr val="17233B"/>
                </a:solidFill>
                <a:latin typeface="Cambria" pitchFamily="34" charset="0"/>
                <a:ea typeface="Cambria" pitchFamily="34" charset="-122"/>
                <a:cs typeface="Cambria" pitchFamily="34" charset="-120"/>
              </a:rPr>
              <a:t>1. OIP files</a:t>
            </a:r>
            <a:endParaRPr lang="en-US" sz="1400" dirty="0"/>
          </a:p>
        </p:txBody>
      </p:sp>
      <p:sp>
        <p:nvSpPr>
          <p:cNvPr id="6" name="Text 4"/>
          <p:cNvSpPr/>
          <p:nvPr/>
        </p:nvSpPr>
        <p:spPr>
          <a:xfrm>
            <a:off x="3566160" y="1874520"/>
            <a:ext cx="7863840" cy="987552"/>
          </a:xfrm>
          <a:prstGeom prst="rect">
            <a:avLst/>
          </a:prstGeom>
          <a:noFill/>
          <a:ln/>
        </p:spPr>
        <p:txBody>
          <a:bodyPr wrap="square" rtlCol="0" anchor="ctr"/>
          <a:lstStyle/>
          <a:p>
            <a:pPr indent="0" marL="0">
              <a:lnSpc>
                <a:spcPts val="1400"/>
              </a:lnSpc>
              <a:buNone/>
            </a:pPr>
            <a:r>
              <a:rPr lang="en-US" sz="1150" dirty="0">
                <a:solidFill>
                  <a:srgbClr val="232B3A"/>
                </a:solidFill>
                <a:latin typeface="Calibri" pitchFamily="34" charset="0"/>
                <a:ea typeface="Calibri" pitchFamily="34" charset="-122"/>
                <a:cs typeface="Calibri" pitchFamily="34" charset="-120"/>
              </a:rPr>
              <a:t>Zip / CSV / text files from external vendors (e.g. airport &amp; passenger data via subsidiaries). Landed on ADLS, exposed to Databricks as a volume. Usually loaded by the project's legacy Unix scripts.</a:t>
            </a:r>
            <a:endParaRPr lang="en-US" sz="1150" dirty="0"/>
          </a:p>
        </p:txBody>
      </p:sp>
      <p:sp>
        <p:nvSpPr>
          <p:cNvPr id="7" name="Shape 5"/>
          <p:cNvSpPr/>
          <p:nvPr/>
        </p:nvSpPr>
        <p:spPr>
          <a:xfrm>
            <a:off x="548640" y="3044952"/>
            <a:ext cx="11064240" cy="1170432"/>
          </a:xfrm>
          <a:prstGeom prst="roundRect">
            <a:avLst>
              <a:gd name="adj" fmla="val 6250"/>
            </a:avLst>
          </a:prstGeom>
          <a:solidFill>
            <a:srgbClr val="F5F6F8"/>
          </a:solidFill>
          <a:ln w="12700">
            <a:solidFill>
              <a:srgbClr val="E1E4EA"/>
            </a:solidFill>
            <a:prstDash val="solid"/>
          </a:ln>
        </p:spPr>
      </p:sp>
      <p:sp>
        <p:nvSpPr>
          <p:cNvPr id="8" name="Text 6"/>
          <p:cNvSpPr/>
          <p:nvPr/>
        </p:nvSpPr>
        <p:spPr>
          <a:xfrm>
            <a:off x="777240" y="3154680"/>
            <a:ext cx="2743200" cy="914400"/>
          </a:xfrm>
          <a:prstGeom prst="rect">
            <a:avLst/>
          </a:prstGeom>
          <a:noFill/>
          <a:ln/>
        </p:spPr>
        <p:txBody>
          <a:bodyPr wrap="square" rtlCol="0" anchor="ctr"/>
          <a:lstStyle/>
          <a:p>
            <a:pPr indent="0" marL="0">
              <a:buNone/>
            </a:pPr>
            <a:r>
              <a:rPr lang="en-US" sz="1400" b="1" dirty="0">
                <a:solidFill>
                  <a:srgbClr val="17233B"/>
                </a:solidFill>
                <a:latin typeface="Cambria" pitchFamily="34" charset="0"/>
                <a:ea typeface="Cambria" pitchFamily="34" charset="-122"/>
                <a:cs typeface="Cambria" pitchFamily="34" charset="-120"/>
              </a:rPr>
              <a:t>2. Landing zone tables</a:t>
            </a:r>
            <a:endParaRPr lang="en-US" sz="1400" dirty="0"/>
          </a:p>
        </p:txBody>
      </p:sp>
      <p:sp>
        <p:nvSpPr>
          <p:cNvPr id="9" name="Text 7"/>
          <p:cNvSpPr/>
          <p:nvPr/>
        </p:nvSpPr>
        <p:spPr>
          <a:xfrm>
            <a:off x="3566160" y="3136392"/>
            <a:ext cx="7863840" cy="987552"/>
          </a:xfrm>
          <a:prstGeom prst="rect">
            <a:avLst/>
          </a:prstGeom>
          <a:noFill/>
          <a:ln/>
        </p:spPr>
        <p:txBody>
          <a:bodyPr wrap="square" rtlCol="0" anchor="ctr"/>
          <a:lstStyle/>
          <a:p>
            <a:pPr indent="0" marL="0">
              <a:lnSpc>
                <a:spcPts val="1400"/>
              </a:lnSpc>
              <a:buNone/>
            </a:pPr>
            <a:r>
              <a:rPr lang="en-US" sz="1150" dirty="0">
                <a:solidFill>
                  <a:srgbClr val="232B3A"/>
                </a:solidFill>
                <a:latin typeface="Calibri" pitchFamily="34" charset="0"/>
                <a:ea typeface="Calibri" pitchFamily="34" charset="-122"/>
                <a:cs typeface="Calibri" pitchFamily="34" charset="-120"/>
              </a:rPr>
              <a:t>Data already loaded into a landing zone by another Lufthansa/Databricks pipeline outside this project's scope. The client tells you which base table and space each stream depends on — this isn't something you can infer yourself.</a:t>
            </a:r>
            <a:endParaRPr lang="en-US" sz="1150" dirty="0"/>
          </a:p>
        </p:txBody>
      </p:sp>
      <p:sp>
        <p:nvSpPr>
          <p:cNvPr id="10" name="Shape 8"/>
          <p:cNvSpPr/>
          <p:nvPr/>
        </p:nvSpPr>
        <p:spPr>
          <a:xfrm>
            <a:off x="548640" y="4306824"/>
            <a:ext cx="11064240" cy="1170432"/>
          </a:xfrm>
          <a:prstGeom prst="roundRect">
            <a:avLst>
              <a:gd name="adj" fmla="val 6250"/>
            </a:avLst>
          </a:prstGeom>
          <a:solidFill>
            <a:srgbClr val="F5F6F8"/>
          </a:solidFill>
          <a:ln w="12700">
            <a:solidFill>
              <a:srgbClr val="E1E4EA"/>
            </a:solidFill>
            <a:prstDash val="solid"/>
          </a:ln>
        </p:spPr>
      </p:sp>
      <p:sp>
        <p:nvSpPr>
          <p:cNvPr id="11" name="Text 9"/>
          <p:cNvSpPr/>
          <p:nvPr/>
        </p:nvSpPr>
        <p:spPr>
          <a:xfrm>
            <a:off x="777240" y="4416552"/>
            <a:ext cx="2743200" cy="914400"/>
          </a:xfrm>
          <a:prstGeom prst="rect">
            <a:avLst/>
          </a:prstGeom>
          <a:noFill/>
          <a:ln/>
        </p:spPr>
        <p:txBody>
          <a:bodyPr wrap="square" rtlCol="0" anchor="ctr"/>
          <a:lstStyle/>
          <a:p>
            <a:pPr indent="0" marL="0">
              <a:buNone/>
            </a:pPr>
            <a:r>
              <a:rPr lang="en-US" sz="1400" b="1" dirty="0">
                <a:solidFill>
                  <a:srgbClr val="17233B"/>
                </a:solidFill>
                <a:latin typeface="Cambria" pitchFamily="34" charset="0"/>
                <a:ea typeface="Cambria" pitchFamily="34" charset="-122"/>
                <a:cs typeface="Cambria" pitchFamily="34" charset="-120"/>
              </a:rPr>
              <a:t>3. Direct queries</a:t>
            </a:r>
            <a:endParaRPr lang="en-US" sz="1400" dirty="0"/>
          </a:p>
        </p:txBody>
      </p:sp>
      <p:sp>
        <p:nvSpPr>
          <p:cNvPr id="12" name="Text 10"/>
          <p:cNvSpPr/>
          <p:nvPr/>
        </p:nvSpPr>
        <p:spPr>
          <a:xfrm>
            <a:off x="3566160" y="4398264"/>
            <a:ext cx="7863840" cy="987552"/>
          </a:xfrm>
          <a:prstGeom prst="rect">
            <a:avLst/>
          </a:prstGeom>
          <a:noFill/>
          <a:ln/>
        </p:spPr>
        <p:txBody>
          <a:bodyPr wrap="square" rtlCol="0" anchor="ctr"/>
          <a:lstStyle/>
          <a:p>
            <a:pPr indent="0" marL="0">
              <a:lnSpc>
                <a:spcPts val="1400"/>
              </a:lnSpc>
              <a:buNone/>
            </a:pPr>
            <a:r>
              <a:rPr lang="en-US" sz="1150" dirty="0">
                <a:solidFill>
                  <a:srgbClr val="232B3A"/>
                </a:solidFill>
                <a:latin typeface="Calibri" pitchFamily="34" charset="0"/>
                <a:ea typeface="Calibri" pitchFamily="34" charset="-122"/>
                <a:cs typeface="Calibri" pitchFamily="34" charset="-120"/>
              </a:rPr>
              <a:t>Some tables are built purely by querying other already-available Databricks tables — no external file or landing zone involved.</a:t>
            </a:r>
            <a:endParaRPr lang="en-US" sz="1150" dirty="0"/>
          </a:p>
        </p:txBody>
      </p:sp>
      <p:sp>
        <p:nvSpPr>
          <p:cNvPr id="13" name="Text 11"/>
          <p:cNvSpPr/>
          <p:nvPr/>
        </p:nvSpPr>
        <p:spPr>
          <a:xfrm>
            <a:off x="548640" y="5623560"/>
            <a:ext cx="9144000" cy="320040"/>
          </a:xfrm>
          <a:prstGeom prst="rect">
            <a:avLst/>
          </a:prstGeom>
          <a:noFill/>
          <a:ln/>
        </p:spPr>
        <p:txBody>
          <a:bodyPr wrap="square" rtlCol="0" anchor="ctr"/>
          <a:lstStyle/>
          <a:p>
            <a:pPr indent="0" marL="0">
              <a:buNone/>
            </a:pPr>
            <a:r>
              <a:rPr lang="en-US" sz="1350" b="1" dirty="0">
                <a:solidFill>
                  <a:srgbClr val="17233B"/>
                </a:solidFill>
                <a:latin typeface="Cambria" pitchFamily="34" charset="0"/>
                <a:ea typeface="Cambria" pitchFamily="34" charset="-122"/>
                <a:cs typeface="Cambria" pitchFamily="34" charset="-120"/>
              </a:rPr>
              <a:t>A quick way to recognize a landing-zone dependency</a:t>
            </a:r>
            <a:endParaRPr lang="en-US" sz="1350" dirty="0"/>
          </a:p>
        </p:txBody>
      </p:sp>
      <p:sp>
        <p:nvSpPr>
          <p:cNvPr id="14" name="Text 12"/>
          <p:cNvSpPr/>
          <p:nvPr/>
        </p:nvSpPr>
        <p:spPr>
          <a:xfrm>
            <a:off x="548640" y="5943600"/>
            <a:ext cx="11064240" cy="457200"/>
          </a:xfrm>
          <a:prstGeom prst="rect">
            <a:avLst/>
          </a:prstGeom>
          <a:noFill/>
          <a:ln/>
        </p:spPr>
        <p:txBody>
          <a:bodyPr wrap="square" rtlCol="0" anchor="ctr"/>
          <a:lstStyle/>
          <a:p>
            <a:pPr indent="0" marL="0">
              <a:buNone/>
            </a:pPr>
            <a:r>
              <a:rPr lang="en-US" sz="1200" i="1" dirty="0">
                <a:solidFill>
                  <a:srgbClr val="5C7285"/>
                </a:solidFill>
                <a:latin typeface="Calibri" pitchFamily="34" charset="0"/>
                <a:ea typeface="Calibri" pitchFamily="34" charset="-122"/>
                <a:cs typeface="Calibri" pitchFamily="34" charset="-120"/>
              </a:rPr>
              <a:t>If a table's schema reads as “landing zone” in the tracking sheet, that's your signal this stream needs the landing-zone implementation path rather than a standard OIP load.</a:t>
            </a:r>
            <a:endParaRPr lang="en-US" sz="1200" dirty="0"/>
          </a:p>
        </p:txBody>
      </p:sp>
      <p:sp>
        <p:nvSpPr>
          <p:cNvPr id="15" name="Text 13"/>
          <p:cNvSpPr/>
          <p:nvPr/>
        </p:nvSpPr>
        <p:spPr>
          <a:xfrm>
            <a:off x="457200" y="6519672"/>
            <a:ext cx="7315200" cy="274320"/>
          </a:xfrm>
          <a:prstGeom prst="rect">
            <a:avLst/>
          </a:prstGeom>
          <a:noFill/>
          <a:ln/>
        </p:spPr>
        <p:txBody>
          <a:bodyPr wrap="square" rtlCol="0" anchor="ctr"/>
          <a:lstStyle/>
          <a:p>
            <a:pPr algn="l" indent="0" marL="0">
              <a:buNone/>
            </a:pPr>
            <a:r>
              <a:rPr lang="en-US" sz="900" b="1" spc="100" kern="0" dirty="0">
                <a:solidFill>
                  <a:srgbClr val="8D9AAE"/>
                </a:solidFill>
                <a:latin typeface="Calibri" pitchFamily="34" charset="0"/>
                <a:ea typeface="Calibri" pitchFamily="34" charset="-122"/>
                <a:cs typeface="Calibri" pitchFamily="34" charset="-120"/>
              </a:rPr>
              <a:t>POD LEAD HOUR</a:t>
            </a:r>
            <a:endParaRPr lang="en-US" sz="900" dirty="0"/>
          </a:p>
        </p:txBody>
      </p:sp>
      <p:sp>
        <p:nvSpPr>
          <p:cNvPr id="16" name="Text 14"/>
          <p:cNvSpPr/>
          <p:nvPr/>
        </p:nvSpPr>
        <p:spPr>
          <a:xfrm>
            <a:off x="11274552" y="6519672"/>
            <a:ext cx="457200" cy="274320"/>
          </a:xfrm>
          <a:prstGeom prst="rect">
            <a:avLst/>
          </a:prstGeom>
          <a:noFill/>
          <a:ln/>
        </p:spPr>
        <p:txBody>
          <a:bodyPr wrap="square" rtlCol="0" anchor="ctr"/>
          <a:lstStyle/>
          <a:p>
            <a:pPr algn="r" indent="0" marL="0">
              <a:buNone/>
            </a:pPr>
            <a:r>
              <a:rPr lang="en-US" sz="900" dirty="0">
                <a:solidFill>
                  <a:srgbClr val="8D9AAE"/>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rtlCol="0" anchor="ctr"/>
          <a:lstStyle/>
          <a:p>
            <a:pPr indent="0" marL="0">
              <a:buNone/>
            </a:pPr>
            <a:r>
              <a:rPr lang="en-US" sz="1200" b="1" spc="120" kern="0" dirty="0">
                <a:solidFill>
                  <a:srgbClr val="FF3621"/>
                </a:solidFill>
                <a:latin typeface="Calibri" pitchFamily="34" charset="0"/>
                <a:ea typeface="Calibri" pitchFamily="34" charset="-122"/>
                <a:cs typeface="Calibri" pitchFamily="34" charset="-120"/>
              </a:rPr>
              <a:t>DATA</a:t>
            </a:r>
            <a:endParaRPr lang="en-US" sz="1200" dirty="0"/>
          </a:p>
        </p:txBody>
      </p:sp>
      <p:sp>
        <p:nvSpPr>
          <p:cNvPr id="3" name="Text 1"/>
          <p:cNvSpPr/>
          <p:nvPr/>
        </p:nvSpPr>
        <p:spPr>
          <a:xfrm>
            <a:off x="548640" y="685800"/>
            <a:ext cx="10789920" cy="640080"/>
          </a:xfrm>
          <a:prstGeom prst="rect">
            <a:avLst/>
          </a:prstGeom>
          <a:noFill/>
          <a:ln/>
        </p:spPr>
        <p:txBody>
          <a:bodyPr wrap="square" rtlCol="0" anchor="ctr"/>
          <a:lstStyle/>
          <a:p>
            <a:pPr algn="l" indent="0" marL="0">
              <a:buNone/>
            </a:pPr>
            <a:r>
              <a:rPr lang="en-US" sz="3000" b="1" dirty="0">
                <a:solidFill>
                  <a:srgbClr val="17233B"/>
                </a:solidFill>
                <a:latin typeface="Cambria" pitchFamily="34" charset="0"/>
                <a:ea typeface="Cambria" pitchFamily="34" charset="-122"/>
                <a:cs typeface="Cambria" pitchFamily="34" charset="-120"/>
              </a:rPr>
              <a:t>Two flags that save the client from exporting terabytes twice</a:t>
            </a:r>
            <a:endParaRPr lang="en-US" sz="3000" dirty="0"/>
          </a:p>
        </p:txBody>
      </p:sp>
      <p:sp>
        <p:nvSpPr>
          <p:cNvPr id="4" name="Text 2"/>
          <p:cNvSpPr/>
          <p:nvPr/>
        </p:nvSpPr>
        <p:spPr>
          <a:xfrm>
            <a:off x="548640" y="1371600"/>
            <a:ext cx="10881360" cy="548640"/>
          </a:xfrm>
          <a:prstGeom prst="rect">
            <a:avLst/>
          </a:prstGeom>
          <a:noFill/>
          <a:ln/>
        </p:spPr>
        <p:txBody>
          <a:bodyPr wrap="square" rtlCol="0" anchor="ctr"/>
          <a:lstStyle/>
          <a:p>
            <a:pPr indent="0" marL="0">
              <a:lnSpc>
                <a:spcPts val="1600"/>
              </a:lnSpc>
              <a:buNone/>
            </a:pPr>
            <a:r>
              <a:rPr lang="en-US" sz="1300" dirty="0">
                <a:solidFill>
                  <a:srgbClr val="5C7285"/>
                </a:solidFill>
                <a:latin typeface="Calibri" pitchFamily="34" charset="0"/>
                <a:ea typeface="Calibri" pitchFamily="34" charset="-122"/>
                <a:cs typeface="Calibri" pitchFamily="34" charset="-120"/>
              </a:rPr>
              <a:t>Some tables run 5–10 terabytes. Re-exporting them every time a script reads them isn't viable — so the tracking sheet flags when one copy is enough.</a:t>
            </a:r>
            <a:endParaRPr lang="en-US" sz="1300" dirty="0"/>
          </a:p>
        </p:txBody>
      </p:sp>
      <p:sp>
        <p:nvSpPr>
          <p:cNvPr id="5" name="Shape 3"/>
          <p:cNvSpPr/>
          <p:nvPr/>
        </p:nvSpPr>
        <p:spPr>
          <a:xfrm>
            <a:off x="548640" y="2148840"/>
            <a:ext cx="5440680" cy="2468880"/>
          </a:xfrm>
          <a:prstGeom prst="roundRect">
            <a:avLst>
              <a:gd name="adj" fmla="val 2963"/>
            </a:avLst>
          </a:prstGeom>
          <a:solidFill>
            <a:srgbClr val="17233B"/>
          </a:solidFill>
          <a:ln/>
        </p:spPr>
      </p:sp>
      <p:sp>
        <p:nvSpPr>
          <p:cNvPr id="6" name="Text 4"/>
          <p:cNvSpPr/>
          <p:nvPr/>
        </p:nvSpPr>
        <p:spPr>
          <a:xfrm>
            <a:off x="777240" y="2331720"/>
            <a:ext cx="5029200" cy="548640"/>
          </a:xfrm>
          <a:prstGeom prst="rect">
            <a:avLst/>
          </a:prstGeom>
          <a:noFill/>
          <a:ln/>
        </p:spPr>
        <p:txBody>
          <a:bodyPr wrap="square" rtlCol="0" anchor="ctr"/>
          <a:lstStyle/>
          <a:p>
            <a:pPr indent="0" marL="0">
              <a:buNone/>
            </a:pPr>
            <a:r>
              <a:rPr lang="en-US" sz="1450" b="1" dirty="0">
                <a:solidFill>
                  <a:srgbClr val="FF3621"/>
                </a:solidFill>
                <a:latin typeface="Cambria" pitchFamily="34" charset="0"/>
                <a:ea typeface="Cambria" pitchFamily="34" charset="-122"/>
                <a:cs typeface="Cambria" pitchFamily="34" charset="-120"/>
              </a:rPr>
              <a:t>“Read-only in stream” = Yes</a:t>
            </a:r>
            <a:endParaRPr lang="en-US" sz="1450" dirty="0"/>
          </a:p>
        </p:txBody>
      </p:sp>
      <p:sp>
        <p:nvSpPr>
          <p:cNvPr id="7" name="Text 5"/>
          <p:cNvSpPr/>
          <p:nvPr/>
        </p:nvSpPr>
        <p:spPr>
          <a:xfrm>
            <a:off x="777240" y="2880360"/>
            <a:ext cx="5029200" cy="1600200"/>
          </a:xfrm>
          <a:prstGeom prst="rect">
            <a:avLst/>
          </a:prstGeom>
          <a:noFill/>
          <a:ln/>
        </p:spPr>
        <p:txBody>
          <a:bodyPr wrap="square" rtlCol="0" anchor="ctr"/>
          <a:lstStyle/>
          <a:p>
            <a:pPr indent="0" marL="0">
              <a:lnSpc>
                <a:spcPts val="1500"/>
              </a:lnSpc>
              <a:buNone/>
            </a:pPr>
            <a:r>
              <a:rPr lang="en-US" sz="1200" dirty="0">
                <a:solidFill>
                  <a:srgbClr val="E7ECF6"/>
                </a:solidFill>
                <a:latin typeface="Calibri" pitchFamily="34" charset="0"/>
                <a:ea typeface="Calibri" pitchFamily="34" charset="-122"/>
                <a:cs typeface="Calibri" pitchFamily="34" charset="-120"/>
              </a:rPr>
              <a:t>This table is only ever read inside this stream — nothing in the stream generates it. It must already exist, produced by a different (often not-yet-migrated) stream. One export is reused everywhere it's read, instead of pulling a fresh copy per script.</a:t>
            </a:r>
            <a:endParaRPr lang="en-US" sz="1200" dirty="0"/>
          </a:p>
        </p:txBody>
      </p:sp>
      <p:sp>
        <p:nvSpPr>
          <p:cNvPr id="8" name="Shape 6"/>
          <p:cNvSpPr/>
          <p:nvPr/>
        </p:nvSpPr>
        <p:spPr>
          <a:xfrm>
            <a:off x="6217920" y="2148840"/>
            <a:ext cx="5440680" cy="2468880"/>
          </a:xfrm>
          <a:prstGeom prst="roundRect">
            <a:avLst>
              <a:gd name="adj" fmla="val 2963"/>
            </a:avLst>
          </a:prstGeom>
          <a:solidFill>
            <a:srgbClr val="17233B"/>
          </a:solidFill>
          <a:ln/>
        </p:spPr>
      </p:sp>
      <p:sp>
        <p:nvSpPr>
          <p:cNvPr id="9" name="Text 7"/>
          <p:cNvSpPr/>
          <p:nvPr/>
        </p:nvSpPr>
        <p:spPr>
          <a:xfrm>
            <a:off x="6446520" y="2331720"/>
            <a:ext cx="5029200" cy="548640"/>
          </a:xfrm>
          <a:prstGeom prst="rect">
            <a:avLst/>
          </a:prstGeom>
          <a:noFill/>
          <a:ln/>
        </p:spPr>
        <p:txBody>
          <a:bodyPr wrap="square" rtlCol="0" anchor="ctr"/>
          <a:lstStyle/>
          <a:p>
            <a:pPr indent="0" marL="0">
              <a:buNone/>
            </a:pPr>
            <a:r>
              <a:rPr lang="en-US" sz="1450" b="1" dirty="0">
                <a:solidFill>
                  <a:srgbClr val="FF3621"/>
                </a:solidFill>
                <a:latin typeface="Cambria" pitchFamily="34" charset="0"/>
                <a:ea typeface="Cambria" pitchFamily="34" charset="-122"/>
                <a:cs typeface="Cambria" pitchFamily="34" charset="-120"/>
              </a:rPr>
              <a:t>“Trans DML once” = Yes</a:t>
            </a:r>
            <a:endParaRPr lang="en-US" sz="1450" dirty="0"/>
          </a:p>
        </p:txBody>
      </p:sp>
      <p:sp>
        <p:nvSpPr>
          <p:cNvPr id="10" name="Text 8"/>
          <p:cNvSpPr/>
          <p:nvPr/>
        </p:nvSpPr>
        <p:spPr>
          <a:xfrm>
            <a:off x="6446520" y="2880360"/>
            <a:ext cx="5029200" cy="1600200"/>
          </a:xfrm>
          <a:prstGeom prst="rect">
            <a:avLst/>
          </a:prstGeom>
          <a:noFill/>
          <a:ln/>
        </p:spPr>
        <p:txBody>
          <a:bodyPr wrap="square" rtlCol="0" anchor="ctr"/>
          <a:lstStyle/>
          <a:p>
            <a:pPr indent="0" marL="0">
              <a:lnSpc>
                <a:spcPts val="1500"/>
              </a:lnSpc>
              <a:buNone/>
            </a:pPr>
            <a:r>
              <a:rPr lang="en-US" sz="1200" dirty="0">
                <a:solidFill>
                  <a:srgbClr val="E7ECF6"/>
                </a:solidFill>
                <a:latin typeface="Calibri" pitchFamily="34" charset="0"/>
                <a:ea typeface="Calibri" pitchFamily="34" charset="-122"/>
                <a:cs typeface="Calibri" pitchFamily="34" charset="-120"/>
              </a:rPr>
              <a:t>This trans (intermediate) table only has DML applied to it in one place across the whole stream. So only one copy needs to be exported/tracked — not one per touchpoint.</a:t>
            </a:r>
            <a:endParaRPr lang="en-US" sz="1200" dirty="0"/>
          </a:p>
        </p:txBody>
      </p:sp>
      <p:sp>
        <p:nvSpPr>
          <p:cNvPr id="11" name="Text 9"/>
          <p:cNvSpPr/>
          <p:nvPr/>
        </p:nvSpPr>
        <p:spPr>
          <a:xfrm>
            <a:off x="457200" y="6519672"/>
            <a:ext cx="7315200" cy="274320"/>
          </a:xfrm>
          <a:prstGeom prst="rect">
            <a:avLst/>
          </a:prstGeom>
          <a:noFill/>
          <a:ln/>
        </p:spPr>
        <p:txBody>
          <a:bodyPr wrap="square" rtlCol="0" anchor="ctr"/>
          <a:lstStyle/>
          <a:p>
            <a:pPr algn="l" indent="0" marL="0">
              <a:buNone/>
            </a:pPr>
            <a:r>
              <a:rPr lang="en-US" sz="900" b="1" spc="100" kern="0" dirty="0">
                <a:solidFill>
                  <a:srgbClr val="8D9AAE"/>
                </a:solidFill>
                <a:latin typeface="Calibri" pitchFamily="34" charset="0"/>
                <a:ea typeface="Calibri" pitchFamily="34" charset="-122"/>
                <a:cs typeface="Calibri" pitchFamily="34" charset="-120"/>
              </a:rPr>
              <a:t>POD LEAD HOUR</a:t>
            </a:r>
            <a:endParaRPr lang="en-US" sz="900" dirty="0"/>
          </a:p>
        </p:txBody>
      </p:sp>
      <p:sp>
        <p:nvSpPr>
          <p:cNvPr id="12" name="Text 10"/>
          <p:cNvSpPr/>
          <p:nvPr/>
        </p:nvSpPr>
        <p:spPr>
          <a:xfrm>
            <a:off x="11274552" y="6519672"/>
            <a:ext cx="457200" cy="274320"/>
          </a:xfrm>
          <a:prstGeom prst="rect">
            <a:avLst/>
          </a:prstGeom>
          <a:noFill/>
          <a:ln/>
        </p:spPr>
        <p:txBody>
          <a:bodyPr wrap="square" rtlCol="0" anchor="ctr"/>
          <a:lstStyle/>
          <a:p>
            <a:pPr algn="r" indent="0" marL="0">
              <a:buNone/>
            </a:pPr>
            <a:r>
              <a:rPr lang="en-US" sz="900" dirty="0">
                <a:solidFill>
                  <a:srgbClr val="8D9AAE"/>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rtlCol="0" anchor="ctr"/>
          <a:lstStyle/>
          <a:p>
            <a:pPr indent="0" marL="0">
              <a:buNone/>
            </a:pPr>
            <a:r>
              <a:rPr lang="en-US" sz="1200" b="1" spc="120" kern="0" dirty="0">
                <a:solidFill>
                  <a:srgbClr val="FF3621"/>
                </a:solidFill>
                <a:latin typeface="Calibri" pitchFamily="34" charset="0"/>
                <a:ea typeface="Calibri" pitchFamily="34" charset="-122"/>
                <a:cs typeface="Calibri" pitchFamily="34" charset="-120"/>
              </a:rPr>
              <a:t>WORKFLOW</a:t>
            </a:r>
            <a:endParaRPr lang="en-US" sz="1200" dirty="0"/>
          </a:p>
        </p:txBody>
      </p:sp>
      <p:sp>
        <p:nvSpPr>
          <p:cNvPr id="3" name="Text 1"/>
          <p:cNvSpPr/>
          <p:nvPr/>
        </p:nvSpPr>
        <p:spPr>
          <a:xfrm>
            <a:off x="548640" y="685800"/>
            <a:ext cx="10789920" cy="640080"/>
          </a:xfrm>
          <a:prstGeom prst="rect">
            <a:avLst/>
          </a:prstGeom>
          <a:noFill/>
          <a:ln/>
        </p:spPr>
        <p:txBody>
          <a:bodyPr wrap="square" rtlCol="0" anchor="ctr"/>
          <a:lstStyle/>
          <a:p>
            <a:pPr algn="l" indent="0" marL="0">
              <a:buNone/>
            </a:pPr>
            <a:r>
              <a:rPr lang="en-US" sz="3000" b="1" dirty="0">
                <a:solidFill>
                  <a:srgbClr val="17233B"/>
                </a:solidFill>
                <a:latin typeface="Cambria" pitchFamily="34" charset="0"/>
                <a:ea typeface="Cambria" pitchFamily="34" charset="-122"/>
                <a:cs typeface="Cambria" pitchFamily="34" charset="-120"/>
              </a:rPr>
              <a:t>Dev to pre-prod: the git &amp; deployment path</a:t>
            </a:r>
            <a:endParaRPr lang="en-US" sz="3000" dirty="0"/>
          </a:p>
        </p:txBody>
      </p:sp>
      <p:sp>
        <p:nvSpPr>
          <p:cNvPr id="4" name="Shape 2"/>
          <p:cNvSpPr/>
          <p:nvPr/>
        </p:nvSpPr>
        <p:spPr>
          <a:xfrm>
            <a:off x="548640" y="1691640"/>
            <a:ext cx="3566160" cy="1920240"/>
          </a:xfrm>
          <a:prstGeom prst="roundRect">
            <a:avLst>
              <a:gd name="adj" fmla="val 3810"/>
            </a:avLst>
          </a:prstGeom>
          <a:solidFill>
            <a:srgbClr val="F5F6F8"/>
          </a:solidFill>
          <a:ln w="12700">
            <a:solidFill>
              <a:srgbClr val="E1E4EA"/>
            </a:solidFill>
            <a:prstDash val="solid"/>
          </a:ln>
        </p:spPr>
      </p:sp>
      <p:sp>
        <p:nvSpPr>
          <p:cNvPr id="5" name="Text 3"/>
          <p:cNvSpPr/>
          <p:nvPr/>
        </p:nvSpPr>
        <p:spPr>
          <a:xfrm>
            <a:off x="731520" y="1828800"/>
            <a:ext cx="3200400" cy="457200"/>
          </a:xfrm>
          <a:prstGeom prst="rect">
            <a:avLst/>
          </a:prstGeom>
          <a:noFill/>
          <a:ln/>
        </p:spPr>
        <p:txBody>
          <a:bodyPr wrap="square" rtlCol="0" anchor="ctr"/>
          <a:lstStyle/>
          <a:p>
            <a:pPr indent="0" marL="0">
              <a:buNone/>
            </a:pPr>
            <a:r>
              <a:rPr lang="en-US" sz="1400" b="1" dirty="0">
                <a:solidFill>
                  <a:srgbClr val="17233B"/>
                </a:solidFill>
                <a:latin typeface="Cambria" pitchFamily="34" charset="0"/>
                <a:ea typeface="Cambria" pitchFamily="34" charset="-122"/>
                <a:cs typeface="Cambria" pitchFamily="34" charset="-120"/>
              </a:rPr>
              <a:t>Feature branch</a:t>
            </a:r>
            <a:endParaRPr lang="en-US" sz="1400" dirty="0"/>
          </a:p>
        </p:txBody>
      </p:sp>
      <p:sp>
        <p:nvSpPr>
          <p:cNvPr id="6" name="Text 4"/>
          <p:cNvSpPr/>
          <p:nvPr/>
        </p:nvSpPr>
        <p:spPr>
          <a:xfrm>
            <a:off x="731520" y="2286000"/>
            <a:ext cx="3200400" cy="1234440"/>
          </a:xfrm>
          <a:prstGeom prst="rect">
            <a:avLst/>
          </a:prstGeom>
          <a:noFill/>
          <a:ln/>
        </p:spPr>
        <p:txBody>
          <a:bodyPr wrap="square" rtlCol="0" anchor="ctr"/>
          <a:lstStyle/>
          <a:p>
            <a:pPr indent="0" marL="0">
              <a:lnSpc>
                <a:spcPts val="1350"/>
              </a:lnSpc>
              <a:buNone/>
            </a:pPr>
            <a:r>
              <a:rPr lang="en-US" sz="1100" dirty="0">
                <a:solidFill>
                  <a:srgbClr val="232B3A"/>
                </a:solidFill>
                <a:latin typeface="Calibri" pitchFamily="34" charset="0"/>
                <a:ea typeface="Calibri" pitchFamily="34" charset="-122"/>
                <a:cs typeface="Calibri" pitchFamily="34" charset="-120"/>
              </a:rPr>
              <a:t>You build and unit-test here. AVF validation and the initial job run both happen on this branch — before anything touches dev.</a:t>
            </a:r>
            <a:endParaRPr lang="en-US" sz="1100" dirty="0"/>
          </a:p>
        </p:txBody>
      </p:sp>
      <p:sp>
        <p:nvSpPr>
          <p:cNvPr id="7" name="Shape 5"/>
          <p:cNvSpPr/>
          <p:nvPr/>
        </p:nvSpPr>
        <p:spPr>
          <a:xfrm>
            <a:off x="4114800" y="2651760"/>
            <a:ext cx="228600" cy="0"/>
          </a:xfrm>
          <a:prstGeom prst="line">
            <a:avLst/>
          </a:prstGeom>
          <a:noFill/>
          <a:ln w="31750">
            <a:solidFill>
              <a:srgbClr val="5C7285"/>
            </a:solidFill>
            <a:prstDash val="solid"/>
            <a:tailEnd type="triangle"/>
          </a:ln>
        </p:spPr>
      </p:sp>
      <p:sp>
        <p:nvSpPr>
          <p:cNvPr id="8" name="Shape 6"/>
          <p:cNvSpPr/>
          <p:nvPr/>
        </p:nvSpPr>
        <p:spPr>
          <a:xfrm>
            <a:off x="4343400" y="1691640"/>
            <a:ext cx="3566160" cy="1920240"/>
          </a:xfrm>
          <a:prstGeom prst="roundRect">
            <a:avLst>
              <a:gd name="adj" fmla="val 3810"/>
            </a:avLst>
          </a:prstGeom>
          <a:solidFill>
            <a:srgbClr val="F5F6F8"/>
          </a:solidFill>
          <a:ln w="12700">
            <a:solidFill>
              <a:srgbClr val="E1E4EA"/>
            </a:solidFill>
            <a:prstDash val="solid"/>
          </a:ln>
        </p:spPr>
      </p:sp>
      <p:sp>
        <p:nvSpPr>
          <p:cNvPr id="9" name="Text 7"/>
          <p:cNvSpPr/>
          <p:nvPr/>
        </p:nvSpPr>
        <p:spPr>
          <a:xfrm>
            <a:off x="4526280" y="1828800"/>
            <a:ext cx="3200400" cy="457200"/>
          </a:xfrm>
          <a:prstGeom prst="rect">
            <a:avLst/>
          </a:prstGeom>
          <a:noFill/>
          <a:ln/>
        </p:spPr>
        <p:txBody>
          <a:bodyPr wrap="square" rtlCol="0" anchor="ctr"/>
          <a:lstStyle/>
          <a:p>
            <a:pPr indent="0" marL="0">
              <a:buNone/>
            </a:pPr>
            <a:r>
              <a:rPr lang="en-US" sz="1400" b="1" dirty="0">
                <a:solidFill>
                  <a:srgbClr val="17233B"/>
                </a:solidFill>
                <a:latin typeface="Cambria" pitchFamily="34" charset="0"/>
                <a:ea typeface="Cambria" pitchFamily="34" charset="-122"/>
                <a:cs typeface="Cambria" pitchFamily="34" charset="-120"/>
              </a:rPr>
              <a:t>Dev-squad branch PR</a:t>
            </a:r>
            <a:endParaRPr lang="en-US" sz="1400" dirty="0"/>
          </a:p>
        </p:txBody>
      </p:sp>
      <p:sp>
        <p:nvSpPr>
          <p:cNvPr id="10" name="Text 8"/>
          <p:cNvSpPr/>
          <p:nvPr/>
        </p:nvSpPr>
        <p:spPr>
          <a:xfrm>
            <a:off x="4526280" y="2286000"/>
            <a:ext cx="3200400" cy="1234440"/>
          </a:xfrm>
          <a:prstGeom prst="rect">
            <a:avLst/>
          </a:prstGeom>
          <a:noFill/>
          <a:ln/>
        </p:spPr>
        <p:txBody>
          <a:bodyPr wrap="square" rtlCol="0" anchor="ctr"/>
          <a:lstStyle/>
          <a:p>
            <a:pPr indent="0" marL="0">
              <a:lnSpc>
                <a:spcPts val="1350"/>
              </a:lnSpc>
              <a:buNone/>
            </a:pPr>
            <a:r>
              <a:rPr lang="en-US" sz="1100" dirty="0">
                <a:solidFill>
                  <a:srgbClr val="232B3A"/>
                </a:solidFill>
                <a:latin typeface="Calibri" pitchFamily="34" charset="0"/>
                <a:ea typeface="Calibri" pitchFamily="34" charset="-122"/>
                <a:cs typeface="Calibri" pitchFamily="34" charset="-120"/>
              </a:rPr>
              <a:t>Once your feature branch is validated, you PR into the dev-squad branch. Approval here triggers a job deploy tagged with your dev-squad branch.</a:t>
            </a:r>
            <a:endParaRPr lang="en-US" sz="1100" dirty="0"/>
          </a:p>
        </p:txBody>
      </p:sp>
      <p:sp>
        <p:nvSpPr>
          <p:cNvPr id="11" name="Shape 9"/>
          <p:cNvSpPr/>
          <p:nvPr/>
        </p:nvSpPr>
        <p:spPr>
          <a:xfrm>
            <a:off x="7909560" y="2651760"/>
            <a:ext cx="228600" cy="0"/>
          </a:xfrm>
          <a:prstGeom prst="line">
            <a:avLst/>
          </a:prstGeom>
          <a:noFill/>
          <a:ln w="31750">
            <a:solidFill>
              <a:srgbClr val="5C7285"/>
            </a:solidFill>
            <a:prstDash val="solid"/>
            <a:tailEnd type="triangle"/>
          </a:ln>
        </p:spPr>
      </p:sp>
      <p:sp>
        <p:nvSpPr>
          <p:cNvPr id="12" name="Shape 10"/>
          <p:cNvSpPr/>
          <p:nvPr/>
        </p:nvSpPr>
        <p:spPr>
          <a:xfrm>
            <a:off x="8138160" y="1691640"/>
            <a:ext cx="3566160" cy="1920240"/>
          </a:xfrm>
          <a:prstGeom prst="roundRect">
            <a:avLst>
              <a:gd name="adj" fmla="val 3810"/>
            </a:avLst>
          </a:prstGeom>
          <a:solidFill>
            <a:srgbClr val="FF3621"/>
          </a:solidFill>
          <a:ln w="12700">
            <a:solidFill>
              <a:srgbClr val="E1E4EA"/>
            </a:solidFill>
            <a:prstDash val="solid"/>
          </a:ln>
        </p:spPr>
      </p:sp>
      <p:sp>
        <p:nvSpPr>
          <p:cNvPr id="13" name="Text 11"/>
          <p:cNvSpPr/>
          <p:nvPr/>
        </p:nvSpPr>
        <p:spPr>
          <a:xfrm>
            <a:off x="8321040" y="1828800"/>
            <a:ext cx="3200400" cy="457200"/>
          </a:xfrm>
          <a:prstGeom prst="rect">
            <a:avLst/>
          </a:prstGeom>
          <a:noFill/>
          <a:ln/>
        </p:spPr>
        <p:txBody>
          <a:bodyPr wrap="square"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Pre-prod (parallel run)</a:t>
            </a:r>
            <a:endParaRPr lang="en-US" sz="1400" dirty="0"/>
          </a:p>
        </p:txBody>
      </p:sp>
      <p:sp>
        <p:nvSpPr>
          <p:cNvPr id="14" name="Text 12"/>
          <p:cNvSpPr/>
          <p:nvPr/>
        </p:nvSpPr>
        <p:spPr>
          <a:xfrm>
            <a:off x="8321040" y="2286000"/>
            <a:ext cx="3200400" cy="1234440"/>
          </a:xfrm>
          <a:prstGeom prst="rect">
            <a:avLst/>
          </a:prstGeom>
          <a:noFill/>
          <a:ln/>
        </p:spPr>
        <p:txBody>
          <a:bodyPr wrap="square" rtlCol="0" anchor="ctr"/>
          <a:lstStyle/>
          <a:p>
            <a:pPr indent="0" marL="0">
              <a:lnSpc>
                <a:spcPts val="1350"/>
              </a:lnSpc>
              <a:buNone/>
            </a:pPr>
            <a:r>
              <a:rPr lang="en-US" sz="1100" dirty="0">
                <a:solidFill>
                  <a:srgbClr val="FFFFFF"/>
                </a:solidFill>
                <a:latin typeface="Calibri" pitchFamily="34" charset="0"/>
                <a:ea typeface="Calibri" pitchFamily="34" charset="-122"/>
                <a:cs typeface="Calibri" pitchFamily="34" charset="-120"/>
              </a:rPr>
              <a:t>After the pre-prod deployment step, your job runs alongside the live Teradata job daily, and AVF generates a daily comparison report until 100% match holds for 3 straight days.</a:t>
            </a:r>
            <a:endParaRPr lang="en-US" sz="1100" dirty="0"/>
          </a:p>
        </p:txBody>
      </p:sp>
      <p:sp>
        <p:nvSpPr>
          <p:cNvPr id="15" name="Text 13"/>
          <p:cNvSpPr/>
          <p:nvPr/>
        </p:nvSpPr>
        <p:spPr>
          <a:xfrm>
            <a:off x="548640" y="3886200"/>
            <a:ext cx="9144000" cy="320040"/>
          </a:xfrm>
          <a:prstGeom prst="rect">
            <a:avLst/>
          </a:prstGeom>
          <a:noFill/>
          <a:ln/>
        </p:spPr>
        <p:txBody>
          <a:bodyPr wrap="square" rtlCol="0" anchor="ctr"/>
          <a:lstStyle/>
          <a:p>
            <a:pPr indent="0" marL="0">
              <a:buNone/>
            </a:pPr>
            <a:r>
              <a:rPr lang="en-US" sz="1500" b="1" dirty="0">
                <a:solidFill>
                  <a:srgbClr val="17233B"/>
                </a:solidFill>
                <a:latin typeface="Cambria" pitchFamily="34" charset="0"/>
                <a:ea typeface="Cambria" pitchFamily="34" charset="-122"/>
                <a:cs typeface="Cambria" pitchFamily="34" charset="-120"/>
              </a:rPr>
              <a:t>Remember to clean up as you go</a:t>
            </a:r>
            <a:endParaRPr lang="en-US" sz="1500" dirty="0"/>
          </a:p>
        </p:txBody>
      </p:sp>
      <p:sp>
        <p:nvSpPr>
          <p:cNvPr id="16" name="Text 14"/>
          <p:cNvSpPr/>
          <p:nvPr/>
        </p:nvSpPr>
        <p:spPr>
          <a:xfrm>
            <a:off x="548640" y="4251960"/>
            <a:ext cx="10881360" cy="1463040"/>
          </a:xfrm>
          <a:prstGeom prst="rect">
            <a:avLst/>
          </a:prstGeom>
          <a:noFill/>
          <a:ln/>
        </p:spPr>
        <p:txBody>
          <a:bodyPr wrap="square" rtlCol="0" anchor="ctr"/>
          <a:lstStyle/>
          <a:p>
            <a:pPr indent="0" marL="0">
              <a:lnSpc>
                <a:spcPts val="1700"/>
              </a:lnSpc>
              <a:buNone/>
            </a:pPr>
            <a:r>
              <a:rPr lang="en-US" sz="1300" b="1" dirty="0">
                <a:solidFill>
                  <a:srgbClr val="232B3A"/>
                </a:solidFill>
                <a:latin typeface="Calibri" pitchFamily="34" charset="0"/>
                <a:ea typeface="Calibri" pitchFamily="34" charset="-122"/>
                <a:cs typeface="Calibri" pitchFamily="34" charset="-120"/>
              </a:rPr>
              <a:t>•  Delete feature-branch test jobs </a:t>
            </a:r>
            <a:pPr indent="0" marL="0">
              <a:lnSpc>
                <a:spcPts val="1700"/>
              </a:lnSpc>
              <a:buNone/>
            </a:pPr>
            <a:r>
              <a:rPr lang="en-US" sz="1300" dirty="0">
                <a:solidFill>
                  <a:srgbClr val="232B3A"/>
                </a:solidFill>
                <a:latin typeface="Calibri" pitchFamily="34" charset="0"/>
                <a:ea typeface="Calibri" pitchFamily="34" charset="-122"/>
                <a:cs typeface="Calibri" pitchFamily="34" charset="-120"/>
              </a:rPr>
              <a:t>once your dev-squad PR is approved — they're no longer needed and clutter the workspace.
</a:t>
            </a:r>
            <a:pPr indent="0" marL="0">
              <a:lnSpc>
                <a:spcPts val="1700"/>
              </a:lnSpc>
              <a:buNone/>
            </a:pPr>
            <a:r>
              <a:rPr lang="en-US" sz="1300" b="1" dirty="0">
                <a:solidFill>
                  <a:srgbClr val="232B3A"/>
                </a:solidFill>
                <a:latin typeface="Calibri" pitchFamily="34" charset="0"/>
                <a:ea typeface="Calibri" pitchFamily="34" charset="-122"/>
                <a:cs typeface="Calibri" pitchFamily="34" charset="-120"/>
              </a:rPr>
              <a:t>•  Run pre-commit before you raise a PR </a:t>
            </a:r>
            <a:pPr indent="0" marL="0">
              <a:lnSpc>
                <a:spcPts val="1700"/>
              </a:lnSpc>
              <a:buNone/>
            </a:pPr>
            <a:r>
              <a:rPr lang="en-US" sz="1300" dirty="0">
                <a:solidFill>
                  <a:srgbClr val="232B3A"/>
                </a:solidFill>
                <a:latin typeface="Calibri" pitchFamily="34" charset="0"/>
                <a:ea typeface="Calibri" pitchFamily="34" charset="-122"/>
                <a:cs typeface="Calibri" pitchFamily="34" charset="-120"/>
              </a:rPr>
              <a:t>— it also runs automatically as part of the PR pipeline, but running it locally first saves review cycles.
</a:t>
            </a:r>
            <a:pPr indent="0" marL="0">
              <a:lnSpc>
                <a:spcPts val="1700"/>
              </a:lnSpc>
              <a:buNone/>
            </a:pPr>
            <a:r>
              <a:rPr lang="en-US" sz="1300" b="1" dirty="0">
                <a:solidFill>
                  <a:srgbClr val="232B3A"/>
                </a:solidFill>
                <a:latin typeface="Calibri" pitchFamily="34" charset="0"/>
                <a:ea typeface="Calibri" pitchFamily="34" charset="-122"/>
                <a:cs typeface="Calibri" pitchFamily="34" charset="-120"/>
              </a:rPr>
              <a:t>•  Only deploy the jobs you're actually testing </a:t>
            </a:r>
            <a:pPr indent="0" marL="0">
              <a:lnSpc>
                <a:spcPts val="1700"/>
              </a:lnSpc>
              <a:buNone/>
            </a:pPr>
            <a:r>
              <a:rPr lang="en-US" sz="1300" dirty="0">
                <a:solidFill>
                  <a:srgbClr val="232B3A"/>
                </a:solidFill>
                <a:latin typeface="Calibri" pitchFamily="34" charset="0"/>
                <a:ea typeface="Calibri" pitchFamily="34" charset="-122"/>
                <a:cs typeface="Calibri" pitchFamily="34" charset="-120"/>
              </a:rPr>
              <a:t>— comment out the rest in databricks.yml so you're not redeploying the whole bundle unnecessarily.</a:t>
            </a:r>
            <a:endParaRPr lang="en-US" sz="1300" dirty="0"/>
          </a:p>
        </p:txBody>
      </p:sp>
      <p:sp>
        <p:nvSpPr>
          <p:cNvPr id="17" name="Text 15"/>
          <p:cNvSpPr/>
          <p:nvPr/>
        </p:nvSpPr>
        <p:spPr>
          <a:xfrm>
            <a:off x="457200" y="6519672"/>
            <a:ext cx="7315200" cy="274320"/>
          </a:xfrm>
          <a:prstGeom prst="rect">
            <a:avLst/>
          </a:prstGeom>
          <a:noFill/>
          <a:ln/>
        </p:spPr>
        <p:txBody>
          <a:bodyPr wrap="square" rtlCol="0" anchor="ctr"/>
          <a:lstStyle/>
          <a:p>
            <a:pPr algn="l" indent="0" marL="0">
              <a:buNone/>
            </a:pPr>
            <a:r>
              <a:rPr lang="en-US" sz="900" b="1" spc="100" kern="0" dirty="0">
                <a:solidFill>
                  <a:srgbClr val="8D9AAE"/>
                </a:solidFill>
                <a:latin typeface="Calibri" pitchFamily="34" charset="0"/>
                <a:ea typeface="Calibri" pitchFamily="34" charset="-122"/>
                <a:cs typeface="Calibri" pitchFamily="34" charset="-120"/>
              </a:rPr>
              <a:t>POD LEAD HOUR</a:t>
            </a:r>
            <a:endParaRPr lang="en-US" sz="900" dirty="0"/>
          </a:p>
        </p:txBody>
      </p:sp>
      <p:sp>
        <p:nvSpPr>
          <p:cNvPr id="18" name="Text 16"/>
          <p:cNvSpPr/>
          <p:nvPr/>
        </p:nvSpPr>
        <p:spPr>
          <a:xfrm>
            <a:off x="11274552" y="6519672"/>
            <a:ext cx="457200" cy="274320"/>
          </a:xfrm>
          <a:prstGeom prst="rect">
            <a:avLst/>
          </a:prstGeom>
          <a:noFill/>
          <a:ln/>
        </p:spPr>
        <p:txBody>
          <a:bodyPr wrap="square" rtlCol="0" anchor="ctr"/>
          <a:lstStyle/>
          <a:p>
            <a:pPr algn="r" indent="0" marL="0">
              <a:buNone/>
            </a:pPr>
            <a:r>
              <a:rPr lang="en-US" sz="900" dirty="0">
                <a:solidFill>
                  <a:srgbClr val="8D9AAE"/>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rtlCol="0" anchor="ctr"/>
          <a:lstStyle/>
          <a:p>
            <a:pPr indent="0" marL="0">
              <a:buNone/>
            </a:pPr>
            <a:r>
              <a:rPr lang="en-US" sz="1200" b="1" spc="120" kern="0" dirty="0">
                <a:solidFill>
                  <a:srgbClr val="FF3621"/>
                </a:solidFill>
                <a:latin typeface="Calibri" pitchFamily="34" charset="0"/>
                <a:ea typeface="Calibri" pitchFamily="34" charset="-122"/>
                <a:cs typeface="Calibri" pitchFamily="34" charset="-120"/>
              </a:rPr>
              <a:t>SESSION 2 · DISCUSSION</a:t>
            </a:r>
            <a:endParaRPr lang="en-US" sz="1200" dirty="0"/>
          </a:p>
        </p:txBody>
      </p:sp>
      <p:sp>
        <p:nvSpPr>
          <p:cNvPr id="3" name="Text 1"/>
          <p:cNvSpPr/>
          <p:nvPr/>
        </p:nvSpPr>
        <p:spPr>
          <a:xfrm>
            <a:off x="548640" y="685800"/>
            <a:ext cx="10789920" cy="640080"/>
          </a:xfrm>
          <a:prstGeom prst="rect">
            <a:avLst/>
          </a:prstGeom>
          <a:noFill/>
          <a:ln/>
        </p:spPr>
        <p:txBody>
          <a:bodyPr wrap="square" rtlCol="0" anchor="ctr"/>
          <a:lstStyle/>
          <a:p>
            <a:pPr algn="l" indent="0" marL="0">
              <a:buNone/>
            </a:pPr>
            <a:r>
              <a:rPr lang="en-US" sz="3000" b="1" dirty="0">
                <a:solidFill>
                  <a:srgbClr val="17233B"/>
                </a:solidFill>
                <a:latin typeface="Cambria" pitchFamily="34" charset="0"/>
                <a:ea typeface="Cambria" pitchFamily="34" charset="-122"/>
                <a:cs typeface="Cambria" pitchFamily="34" charset="-120"/>
              </a:rPr>
              <a:t>Discussion points &amp; open questions</a:t>
            </a:r>
            <a:endParaRPr lang="en-US" sz="3000" dirty="0"/>
          </a:p>
        </p:txBody>
      </p:sp>
      <p:sp>
        <p:nvSpPr>
          <p:cNvPr id="4" name="Shape 2"/>
          <p:cNvSpPr/>
          <p:nvPr/>
        </p:nvSpPr>
        <p:spPr>
          <a:xfrm>
            <a:off x="548640" y="1417320"/>
            <a:ext cx="11064240" cy="1234440"/>
          </a:xfrm>
          <a:prstGeom prst="roundRect">
            <a:avLst>
              <a:gd name="adj" fmla="val 5926"/>
            </a:avLst>
          </a:prstGeom>
          <a:solidFill>
            <a:srgbClr val="F5F6F8"/>
          </a:solidFill>
          <a:ln w="12700">
            <a:solidFill>
              <a:srgbClr val="E1E4EA"/>
            </a:solidFill>
            <a:prstDash val="solid"/>
          </a:ln>
        </p:spPr>
      </p:sp>
      <p:sp>
        <p:nvSpPr>
          <p:cNvPr id="5" name="Shape 3"/>
          <p:cNvSpPr/>
          <p:nvPr/>
        </p:nvSpPr>
        <p:spPr>
          <a:xfrm>
            <a:off x="731520" y="1554480"/>
            <a:ext cx="384048" cy="384048"/>
          </a:xfrm>
          <a:prstGeom prst="roundRect">
            <a:avLst>
              <a:gd name="adj" fmla="val 14286"/>
            </a:avLst>
          </a:prstGeom>
          <a:solidFill>
            <a:srgbClr val="17233B"/>
          </a:solidFill>
          <a:ln/>
        </p:spPr>
      </p:sp>
      <p:sp>
        <p:nvSpPr>
          <p:cNvPr id="6" name="Text 4"/>
          <p:cNvSpPr/>
          <p:nvPr/>
        </p:nvSpPr>
        <p:spPr>
          <a:xfrm>
            <a:off x="731520" y="1554480"/>
            <a:ext cx="384048" cy="384048"/>
          </a:xfrm>
          <a:prstGeom prst="rect">
            <a:avLst/>
          </a:prstGeom>
          <a:noFill/>
          <a:ln/>
        </p:spPr>
        <p:txBody>
          <a:bodyPr wrap="square" rtlCol="0" anchor="ctr"/>
          <a:lstStyle/>
          <a:p>
            <a:pPr algn="ctr" indent="0" marL="0">
              <a:buNone/>
            </a:pPr>
            <a:r>
              <a:rPr lang="en-US" sz="1500" b="1" dirty="0">
                <a:solidFill>
                  <a:srgbClr val="FF3621"/>
                </a:solidFill>
                <a:latin typeface="Cambria" pitchFamily="34" charset="0"/>
                <a:ea typeface="Cambria" pitchFamily="34" charset="-122"/>
                <a:cs typeface="Cambria" pitchFamily="34" charset="-120"/>
              </a:rPr>
              <a:t>Q</a:t>
            </a:r>
            <a:endParaRPr lang="en-US" sz="1500" dirty="0"/>
          </a:p>
        </p:txBody>
      </p:sp>
      <p:sp>
        <p:nvSpPr>
          <p:cNvPr id="7" name="Text 5"/>
          <p:cNvSpPr/>
          <p:nvPr/>
        </p:nvSpPr>
        <p:spPr>
          <a:xfrm>
            <a:off x="1280160" y="1508760"/>
            <a:ext cx="10149840" cy="365760"/>
          </a:xfrm>
          <a:prstGeom prst="rect">
            <a:avLst/>
          </a:prstGeom>
          <a:noFill/>
          <a:ln/>
        </p:spPr>
        <p:txBody>
          <a:bodyPr wrap="square" rtlCol="0" anchor="ctr"/>
          <a:lstStyle/>
          <a:p>
            <a:pPr indent="0" marL="0">
              <a:buNone/>
            </a:pPr>
            <a:r>
              <a:rPr lang="en-US" sz="1350" b="1" dirty="0">
                <a:solidFill>
                  <a:srgbClr val="17233B"/>
                </a:solidFill>
                <a:latin typeface="Cambria" pitchFamily="34" charset="0"/>
                <a:ea typeface="Cambria" pitchFamily="34" charset="-122"/>
                <a:cs typeface="Cambria" pitchFamily="34" charset="-120"/>
              </a:rPr>
              <a:t>“My count only matched after I made a small fix — is that OK to keep?”</a:t>
            </a:r>
            <a:endParaRPr lang="en-US" sz="1350" dirty="0"/>
          </a:p>
        </p:txBody>
      </p:sp>
      <p:sp>
        <p:nvSpPr>
          <p:cNvPr id="8" name="Text 6"/>
          <p:cNvSpPr/>
          <p:nvPr/>
        </p:nvSpPr>
        <p:spPr>
          <a:xfrm>
            <a:off x="1280160" y="1874520"/>
            <a:ext cx="10149840" cy="731520"/>
          </a:xfrm>
          <a:prstGeom prst="rect">
            <a:avLst/>
          </a:prstGeom>
          <a:noFill/>
          <a:ln/>
        </p:spPr>
        <p:txBody>
          <a:bodyPr wrap="square" rtlCol="0" anchor="ctr"/>
          <a:lstStyle/>
          <a:p>
            <a:pPr indent="0" marL="0">
              <a:lnSpc>
                <a:spcPts val="1450"/>
              </a:lnSpc>
              <a:buNone/>
            </a:pPr>
            <a:r>
              <a:rPr lang="en-US" sz="1200" dirty="0">
                <a:solidFill>
                  <a:srgbClr val="232B3A"/>
                </a:solidFill>
                <a:latin typeface="Calibri" pitchFamily="34" charset="0"/>
                <a:ea typeface="Calibri" pitchFamily="34" charset="-122"/>
                <a:cs typeface="Calibri" pitchFamily="34" charset="-120"/>
              </a:rPr>
              <a:t>Don't decide this alone. The end goal is 100% value match (not identical syntax) — but any logical change, however small, needs to be raised in your squad's daily call so the pod lead and Lufthansa squad owners can confirm it, screen-share the before/after, and agree it's acceptable.</a:t>
            </a:r>
            <a:endParaRPr lang="en-US" sz="1200" dirty="0"/>
          </a:p>
        </p:txBody>
      </p:sp>
      <p:sp>
        <p:nvSpPr>
          <p:cNvPr id="9" name="Shape 7"/>
          <p:cNvSpPr/>
          <p:nvPr/>
        </p:nvSpPr>
        <p:spPr>
          <a:xfrm>
            <a:off x="548640" y="2816352"/>
            <a:ext cx="11064240" cy="1051560"/>
          </a:xfrm>
          <a:prstGeom prst="roundRect">
            <a:avLst>
              <a:gd name="adj" fmla="val 6957"/>
            </a:avLst>
          </a:prstGeom>
          <a:solidFill>
            <a:srgbClr val="F5F6F8"/>
          </a:solidFill>
          <a:ln w="12700">
            <a:solidFill>
              <a:srgbClr val="E1E4EA"/>
            </a:solidFill>
            <a:prstDash val="solid"/>
          </a:ln>
        </p:spPr>
      </p:sp>
      <p:sp>
        <p:nvSpPr>
          <p:cNvPr id="10" name="Shape 8"/>
          <p:cNvSpPr/>
          <p:nvPr/>
        </p:nvSpPr>
        <p:spPr>
          <a:xfrm>
            <a:off x="731520" y="2953512"/>
            <a:ext cx="384048" cy="384048"/>
          </a:xfrm>
          <a:prstGeom prst="roundRect">
            <a:avLst>
              <a:gd name="adj" fmla="val 14286"/>
            </a:avLst>
          </a:prstGeom>
          <a:solidFill>
            <a:srgbClr val="17233B"/>
          </a:solidFill>
          <a:ln/>
        </p:spPr>
      </p:sp>
      <p:sp>
        <p:nvSpPr>
          <p:cNvPr id="11" name="Text 9"/>
          <p:cNvSpPr/>
          <p:nvPr/>
        </p:nvSpPr>
        <p:spPr>
          <a:xfrm>
            <a:off x="731520" y="2953512"/>
            <a:ext cx="384048" cy="384048"/>
          </a:xfrm>
          <a:prstGeom prst="rect">
            <a:avLst/>
          </a:prstGeom>
          <a:noFill/>
          <a:ln/>
        </p:spPr>
        <p:txBody>
          <a:bodyPr wrap="square" rtlCol="0" anchor="ctr"/>
          <a:lstStyle/>
          <a:p>
            <a:pPr algn="ctr" indent="0" marL="0">
              <a:buNone/>
            </a:pPr>
            <a:r>
              <a:rPr lang="en-US" sz="1500" b="1" dirty="0">
                <a:solidFill>
                  <a:srgbClr val="FF3621"/>
                </a:solidFill>
                <a:latin typeface="Cambria" pitchFamily="34" charset="0"/>
                <a:ea typeface="Cambria" pitchFamily="34" charset="-122"/>
                <a:cs typeface="Cambria" pitchFamily="34" charset="-120"/>
              </a:rPr>
              <a:t>Q</a:t>
            </a:r>
            <a:endParaRPr lang="en-US" sz="1500" dirty="0"/>
          </a:p>
        </p:txBody>
      </p:sp>
      <p:sp>
        <p:nvSpPr>
          <p:cNvPr id="12" name="Text 10"/>
          <p:cNvSpPr/>
          <p:nvPr/>
        </p:nvSpPr>
        <p:spPr>
          <a:xfrm>
            <a:off x="1280160" y="2907792"/>
            <a:ext cx="10149840" cy="365760"/>
          </a:xfrm>
          <a:prstGeom prst="rect">
            <a:avLst/>
          </a:prstGeom>
          <a:noFill/>
          <a:ln/>
        </p:spPr>
        <p:txBody>
          <a:bodyPr wrap="square" rtlCol="0" anchor="ctr"/>
          <a:lstStyle/>
          <a:p>
            <a:pPr indent="0" marL="0">
              <a:buNone/>
            </a:pPr>
            <a:r>
              <a:rPr lang="en-US" sz="1350" b="1" dirty="0">
                <a:solidFill>
                  <a:srgbClr val="17233B"/>
                </a:solidFill>
                <a:latin typeface="Cambria" pitchFamily="34" charset="0"/>
                <a:ea typeface="Cambria" pitchFamily="34" charset="-122"/>
                <a:cs typeface="Cambria" pitchFamily="34" charset="-120"/>
              </a:rPr>
              <a:t>“We found count and value mismatches from date/timezone conversion — what now?”</a:t>
            </a:r>
            <a:endParaRPr lang="en-US" sz="1350" dirty="0"/>
          </a:p>
        </p:txBody>
      </p:sp>
      <p:sp>
        <p:nvSpPr>
          <p:cNvPr id="13" name="Text 11"/>
          <p:cNvSpPr/>
          <p:nvPr/>
        </p:nvSpPr>
        <p:spPr>
          <a:xfrm>
            <a:off x="1280160" y="3273552"/>
            <a:ext cx="10149840" cy="548640"/>
          </a:xfrm>
          <a:prstGeom prst="rect">
            <a:avLst/>
          </a:prstGeom>
          <a:noFill/>
          <a:ln/>
        </p:spPr>
        <p:txBody>
          <a:bodyPr wrap="square" rtlCol="0" anchor="ctr"/>
          <a:lstStyle/>
          <a:p>
            <a:pPr indent="0" marL="0">
              <a:lnSpc>
                <a:spcPts val="1450"/>
              </a:lnSpc>
              <a:buNone/>
            </a:pPr>
            <a:r>
              <a:rPr lang="en-US" sz="1200" dirty="0">
                <a:solidFill>
                  <a:srgbClr val="232B3A"/>
                </a:solidFill>
                <a:latin typeface="Calibri" pitchFamily="34" charset="0"/>
                <a:ea typeface="Calibri" pitchFamily="34" charset="-122"/>
                <a:cs typeface="Calibri" pitchFamily="34" charset="-120"/>
              </a:rPr>
              <a:t>Flag it in your squad call rather than resolving it solo; conversion edge cases (e.g. date arithmetic differences) get worked through in dedicated AVF sessions with the squad owners, since they may need client confirmation before you change logic.</a:t>
            </a:r>
            <a:endParaRPr lang="en-US" sz="1200" dirty="0"/>
          </a:p>
        </p:txBody>
      </p:sp>
      <p:sp>
        <p:nvSpPr>
          <p:cNvPr id="14" name="Shape 12"/>
          <p:cNvSpPr/>
          <p:nvPr/>
        </p:nvSpPr>
        <p:spPr>
          <a:xfrm>
            <a:off x="548640" y="4032504"/>
            <a:ext cx="11064240" cy="1051560"/>
          </a:xfrm>
          <a:prstGeom prst="roundRect">
            <a:avLst>
              <a:gd name="adj" fmla="val 6957"/>
            </a:avLst>
          </a:prstGeom>
          <a:solidFill>
            <a:srgbClr val="F5F6F8"/>
          </a:solidFill>
          <a:ln w="12700">
            <a:solidFill>
              <a:srgbClr val="E1E4EA"/>
            </a:solidFill>
            <a:prstDash val="solid"/>
          </a:ln>
        </p:spPr>
      </p:sp>
      <p:sp>
        <p:nvSpPr>
          <p:cNvPr id="15" name="Shape 13"/>
          <p:cNvSpPr/>
          <p:nvPr/>
        </p:nvSpPr>
        <p:spPr>
          <a:xfrm>
            <a:off x="731520" y="4169664"/>
            <a:ext cx="384048" cy="384048"/>
          </a:xfrm>
          <a:prstGeom prst="roundRect">
            <a:avLst>
              <a:gd name="adj" fmla="val 14286"/>
            </a:avLst>
          </a:prstGeom>
          <a:solidFill>
            <a:srgbClr val="17233B"/>
          </a:solidFill>
          <a:ln/>
        </p:spPr>
      </p:sp>
      <p:sp>
        <p:nvSpPr>
          <p:cNvPr id="16" name="Text 14"/>
          <p:cNvSpPr/>
          <p:nvPr/>
        </p:nvSpPr>
        <p:spPr>
          <a:xfrm>
            <a:off x="731520" y="4169664"/>
            <a:ext cx="384048" cy="384048"/>
          </a:xfrm>
          <a:prstGeom prst="rect">
            <a:avLst/>
          </a:prstGeom>
          <a:noFill/>
          <a:ln/>
        </p:spPr>
        <p:txBody>
          <a:bodyPr wrap="square" rtlCol="0" anchor="ctr"/>
          <a:lstStyle/>
          <a:p>
            <a:pPr algn="ctr" indent="0" marL="0">
              <a:buNone/>
            </a:pPr>
            <a:r>
              <a:rPr lang="en-US" sz="1500" b="1" dirty="0">
                <a:solidFill>
                  <a:srgbClr val="FF3621"/>
                </a:solidFill>
                <a:latin typeface="Cambria" pitchFamily="34" charset="0"/>
                <a:ea typeface="Cambria" pitchFamily="34" charset="-122"/>
                <a:cs typeface="Cambria" pitchFamily="34" charset="-120"/>
              </a:rPr>
              <a:t>Q</a:t>
            </a:r>
            <a:endParaRPr lang="en-US" sz="1500" dirty="0"/>
          </a:p>
        </p:txBody>
      </p:sp>
      <p:sp>
        <p:nvSpPr>
          <p:cNvPr id="17" name="Text 15"/>
          <p:cNvSpPr/>
          <p:nvPr/>
        </p:nvSpPr>
        <p:spPr>
          <a:xfrm>
            <a:off x="1280160" y="4123944"/>
            <a:ext cx="10149840" cy="365760"/>
          </a:xfrm>
          <a:prstGeom prst="rect">
            <a:avLst/>
          </a:prstGeom>
          <a:noFill/>
          <a:ln/>
        </p:spPr>
        <p:txBody>
          <a:bodyPr wrap="square" rtlCol="0" anchor="ctr"/>
          <a:lstStyle/>
          <a:p>
            <a:pPr indent="0" marL="0">
              <a:buNone/>
            </a:pPr>
            <a:r>
              <a:rPr lang="en-US" sz="1350" b="1" dirty="0">
                <a:solidFill>
                  <a:srgbClr val="17233B"/>
                </a:solidFill>
                <a:latin typeface="Cambria" pitchFamily="34" charset="0"/>
                <a:ea typeface="Cambria" pitchFamily="34" charset="-122"/>
                <a:cs typeface="Cambria" pitchFamily="34" charset="-120"/>
              </a:rPr>
              <a:t>“Can we get a single-table count check against Teradata directly?”</a:t>
            </a:r>
            <a:endParaRPr lang="en-US" sz="1350" dirty="0"/>
          </a:p>
        </p:txBody>
      </p:sp>
      <p:sp>
        <p:nvSpPr>
          <p:cNvPr id="18" name="Text 16"/>
          <p:cNvSpPr/>
          <p:nvPr/>
        </p:nvSpPr>
        <p:spPr>
          <a:xfrm>
            <a:off x="1280160" y="4489704"/>
            <a:ext cx="10149840" cy="548640"/>
          </a:xfrm>
          <a:prstGeom prst="rect">
            <a:avLst/>
          </a:prstGeom>
          <a:noFill/>
          <a:ln/>
        </p:spPr>
        <p:txBody>
          <a:bodyPr wrap="square" rtlCol="0" anchor="ctr"/>
          <a:lstStyle/>
          <a:p>
            <a:pPr indent="0" marL="0">
              <a:lnSpc>
                <a:spcPts val="1450"/>
              </a:lnSpc>
              <a:buNone/>
            </a:pPr>
            <a:r>
              <a:rPr lang="en-US" sz="1200" dirty="0">
                <a:solidFill>
                  <a:srgbClr val="232B3A"/>
                </a:solidFill>
                <a:latin typeface="Calibri" pitchFamily="34" charset="0"/>
                <a:ea typeface="Calibri" pitchFamily="34" charset="-122"/>
                <a:cs typeface="Calibri" pitchFamily="34" charset="-120"/>
              </a:rPr>
              <a:t>Yes — there's Teradata connectivity configured inside Databricks (a notebook-based connection, not federation) for quick count/spot checks. A dedicated session covers wiring this up on your own laptop.</a:t>
            </a:r>
            <a:endParaRPr lang="en-US" sz="1200" dirty="0"/>
          </a:p>
        </p:txBody>
      </p:sp>
      <p:sp>
        <p:nvSpPr>
          <p:cNvPr id="19" name="Text 17"/>
          <p:cNvSpPr/>
          <p:nvPr/>
        </p:nvSpPr>
        <p:spPr>
          <a:xfrm>
            <a:off x="457200" y="6519672"/>
            <a:ext cx="7315200" cy="274320"/>
          </a:xfrm>
          <a:prstGeom prst="rect">
            <a:avLst/>
          </a:prstGeom>
          <a:noFill/>
          <a:ln/>
        </p:spPr>
        <p:txBody>
          <a:bodyPr wrap="square" rtlCol="0" anchor="ctr"/>
          <a:lstStyle/>
          <a:p>
            <a:pPr algn="l" indent="0" marL="0">
              <a:buNone/>
            </a:pPr>
            <a:r>
              <a:rPr lang="en-US" sz="900" b="1" spc="100" kern="0" dirty="0">
                <a:solidFill>
                  <a:srgbClr val="8D9AAE"/>
                </a:solidFill>
                <a:latin typeface="Calibri" pitchFamily="34" charset="0"/>
                <a:ea typeface="Calibri" pitchFamily="34" charset="-122"/>
                <a:cs typeface="Calibri" pitchFamily="34" charset="-120"/>
              </a:rPr>
              <a:t>SESSION 2 · DISCUSSION</a:t>
            </a:r>
            <a:endParaRPr lang="en-US" sz="900" dirty="0"/>
          </a:p>
        </p:txBody>
      </p:sp>
      <p:sp>
        <p:nvSpPr>
          <p:cNvPr id="20" name="Text 18"/>
          <p:cNvSpPr/>
          <p:nvPr/>
        </p:nvSpPr>
        <p:spPr>
          <a:xfrm>
            <a:off x="11274552" y="6519672"/>
            <a:ext cx="457200" cy="274320"/>
          </a:xfrm>
          <a:prstGeom prst="rect">
            <a:avLst/>
          </a:prstGeom>
          <a:noFill/>
          <a:ln/>
        </p:spPr>
        <p:txBody>
          <a:bodyPr wrap="square" rtlCol="0" anchor="ctr"/>
          <a:lstStyle/>
          <a:p>
            <a:pPr algn="r" indent="0" marL="0">
              <a:buNone/>
            </a:pPr>
            <a:r>
              <a:rPr lang="en-US" sz="900" dirty="0">
                <a:solidFill>
                  <a:srgbClr val="8D9AAE"/>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rtlCol="0" anchor="ctr"/>
          <a:lstStyle/>
          <a:p>
            <a:pPr indent="0" marL="0">
              <a:buNone/>
            </a:pPr>
            <a:r>
              <a:rPr lang="en-US" sz="1200" b="1" spc="120" kern="0" dirty="0">
                <a:solidFill>
                  <a:srgbClr val="FF3621"/>
                </a:solidFill>
                <a:latin typeface="Calibri" pitchFamily="34" charset="0"/>
                <a:ea typeface="Calibri" pitchFamily="34" charset="-122"/>
                <a:cs typeface="Calibri" pitchFamily="34" charset="-120"/>
              </a:rPr>
              <a:t>SESSION 2 · REFERENCE</a:t>
            </a:r>
            <a:endParaRPr lang="en-US" sz="1200" dirty="0"/>
          </a:p>
        </p:txBody>
      </p:sp>
      <p:sp>
        <p:nvSpPr>
          <p:cNvPr id="3" name="Text 1"/>
          <p:cNvSpPr/>
          <p:nvPr/>
        </p:nvSpPr>
        <p:spPr>
          <a:xfrm>
            <a:off x="548640" y="685800"/>
            <a:ext cx="10789920" cy="640080"/>
          </a:xfrm>
          <a:prstGeom prst="rect">
            <a:avLst/>
          </a:prstGeom>
          <a:noFill/>
          <a:ln/>
        </p:spPr>
        <p:txBody>
          <a:bodyPr wrap="square" rtlCol="0" anchor="ctr"/>
          <a:lstStyle/>
          <a:p>
            <a:pPr algn="l" indent="0" marL="0">
              <a:buNone/>
            </a:pPr>
            <a:r>
              <a:rPr lang="en-US" sz="3000" b="1" dirty="0">
                <a:solidFill>
                  <a:srgbClr val="17233B"/>
                </a:solidFill>
                <a:latin typeface="Cambria" pitchFamily="34" charset="0"/>
                <a:ea typeface="Cambria" pitchFamily="34" charset="-122"/>
                <a:cs typeface="Cambria" pitchFamily="34" charset="-120"/>
              </a:rPr>
              <a:t>Glossary: key terms from this session</a:t>
            </a:r>
            <a:endParaRPr lang="en-US" sz="3000" dirty="0"/>
          </a:p>
        </p:txBody>
      </p:sp>
      <p:sp>
        <p:nvSpPr>
          <p:cNvPr id="4" name="Text 2"/>
          <p:cNvSpPr/>
          <p:nvPr/>
        </p:nvSpPr>
        <p:spPr>
          <a:xfrm>
            <a:off x="548640" y="1600200"/>
            <a:ext cx="5394960" cy="868680"/>
          </a:xfrm>
          <a:prstGeom prst="rect">
            <a:avLst/>
          </a:prstGeom>
          <a:noFill/>
          <a:ln/>
        </p:spPr>
        <p:txBody>
          <a:bodyPr wrap="square" rtlCol="0" anchor="t"/>
          <a:lstStyle/>
          <a:p>
            <a:pPr indent="0" marL="0">
              <a:lnSpc>
                <a:spcPts val="1500"/>
              </a:lnSpc>
              <a:buNone/>
            </a:pPr>
            <a:r>
              <a:rPr lang="en-US" sz="1200" b="1" dirty="0">
                <a:solidFill>
                  <a:srgbClr val="17233B"/>
                </a:solidFill>
                <a:latin typeface="Calibri" pitchFamily="34" charset="0"/>
                <a:ea typeface="Calibri" pitchFamily="34" charset="-122"/>
                <a:cs typeface="Calibri" pitchFamily="34" charset="-120"/>
              </a:rPr>
              <a:t>AVF — </a:t>
            </a:r>
            <a:pPr indent="0" marL="0">
              <a:lnSpc>
                <a:spcPts val="1500"/>
              </a:lnSpc>
              <a:buNone/>
            </a:pPr>
            <a:r>
              <a:rPr lang="en-US" sz="1200" dirty="0">
                <a:solidFill>
                  <a:srgbClr val="232B3A"/>
                </a:solidFill>
                <a:latin typeface="Calibri" pitchFamily="34" charset="0"/>
                <a:ea typeface="Calibri" pitchFamily="34" charset="-122"/>
                <a:cs typeface="Calibri" pitchFamily="34" charset="-120"/>
              </a:rPr>
              <a:t>Automated Validation Framework — cell-to-cell comparison + recon tables.</a:t>
            </a:r>
            <a:endParaRPr lang="en-US" sz="1200" dirty="0"/>
          </a:p>
        </p:txBody>
      </p:sp>
      <p:sp>
        <p:nvSpPr>
          <p:cNvPr id="5" name="Text 3"/>
          <p:cNvSpPr/>
          <p:nvPr/>
        </p:nvSpPr>
        <p:spPr>
          <a:xfrm>
            <a:off x="548640" y="2532888"/>
            <a:ext cx="5394960" cy="868680"/>
          </a:xfrm>
          <a:prstGeom prst="rect">
            <a:avLst/>
          </a:prstGeom>
          <a:noFill/>
          <a:ln/>
        </p:spPr>
        <p:txBody>
          <a:bodyPr wrap="square" rtlCol="0" anchor="t"/>
          <a:lstStyle/>
          <a:p>
            <a:pPr indent="0" marL="0">
              <a:lnSpc>
                <a:spcPts val="1500"/>
              </a:lnSpc>
              <a:buNone/>
            </a:pPr>
            <a:r>
              <a:rPr lang="en-US" sz="1200" b="1" dirty="0">
                <a:solidFill>
                  <a:srgbClr val="17233B"/>
                </a:solidFill>
                <a:latin typeface="Calibri" pitchFamily="34" charset="0"/>
                <a:ea typeface="Calibri" pitchFamily="34" charset="-122"/>
                <a:cs typeface="Calibri" pitchFamily="34" charset="-120"/>
              </a:rPr>
              <a:t>Brickify — </a:t>
            </a:r>
            <a:pPr indent="0" marL="0">
              <a:lnSpc>
                <a:spcPts val="1500"/>
              </a:lnSpc>
              <a:buNone/>
            </a:pPr>
            <a:r>
              <a:rPr lang="en-US" sz="1200" dirty="0">
                <a:solidFill>
                  <a:srgbClr val="232B3A"/>
                </a:solidFill>
                <a:latin typeface="Calibri" pitchFamily="34" charset="0"/>
                <a:ea typeface="Calibri" pitchFamily="34" charset="-122"/>
                <a:cs typeface="Calibri" pitchFamily="34" charset="-120"/>
              </a:rPr>
              <a:t>The tool used to auto-convert Teradata SQL to Databricks SQL.</a:t>
            </a:r>
            <a:endParaRPr lang="en-US" sz="1200" dirty="0"/>
          </a:p>
        </p:txBody>
      </p:sp>
      <p:sp>
        <p:nvSpPr>
          <p:cNvPr id="6" name="Text 4"/>
          <p:cNvSpPr/>
          <p:nvPr/>
        </p:nvSpPr>
        <p:spPr>
          <a:xfrm>
            <a:off x="548640" y="3465576"/>
            <a:ext cx="5394960" cy="868680"/>
          </a:xfrm>
          <a:prstGeom prst="rect">
            <a:avLst/>
          </a:prstGeom>
          <a:noFill/>
          <a:ln/>
        </p:spPr>
        <p:txBody>
          <a:bodyPr wrap="square" rtlCol="0" anchor="t"/>
          <a:lstStyle/>
          <a:p>
            <a:pPr indent="0" marL="0">
              <a:lnSpc>
                <a:spcPts val="1500"/>
              </a:lnSpc>
              <a:buNone/>
            </a:pPr>
            <a:r>
              <a:rPr lang="en-US" sz="1200" b="1" dirty="0">
                <a:solidFill>
                  <a:srgbClr val="17233B"/>
                </a:solidFill>
                <a:latin typeface="Calibri" pitchFamily="34" charset="0"/>
                <a:ea typeface="Calibri" pitchFamily="34" charset="-122"/>
                <a:cs typeface="Calibri" pitchFamily="34" charset="-120"/>
              </a:rPr>
              <a:t>Recon table — </a:t>
            </a:r>
            <a:pPr indent="0" marL="0">
              <a:lnSpc>
                <a:spcPts val="1500"/>
              </a:lnSpc>
              <a:buNone/>
            </a:pPr>
            <a:r>
              <a:rPr lang="en-US" sz="1200" dirty="0">
                <a:solidFill>
                  <a:srgbClr val="232B3A"/>
                </a:solidFill>
                <a:latin typeface="Calibri" pitchFamily="34" charset="0"/>
                <a:ea typeface="Calibri" pitchFamily="34" charset="-122"/>
                <a:cs typeface="Calibri" pitchFamily="34" charset="-120"/>
              </a:rPr>
              <a:t>A comparison table generated to validate target vs. source data.</a:t>
            </a:r>
            <a:endParaRPr lang="en-US" sz="1200" dirty="0"/>
          </a:p>
        </p:txBody>
      </p:sp>
      <p:sp>
        <p:nvSpPr>
          <p:cNvPr id="7" name="Text 5"/>
          <p:cNvSpPr/>
          <p:nvPr/>
        </p:nvSpPr>
        <p:spPr>
          <a:xfrm>
            <a:off x="548640" y="4398264"/>
            <a:ext cx="5394960" cy="868680"/>
          </a:xfrm>
          <a:prstGeom prst="rect">
            <a:avLst/>
          </a:prstGeom>
          <a:noFill/>
          <a:ln/>
        </p:spPr>
        <p:txBody>
          <a:bodyPr wrap="square" rtlCol="0" anchor="t"/>
          <a:lstStyle/>
          <a:p>
            <a:pPr indent="0" marL="0">
              <a:lnSpc>
                <a:spcPts val="1500"/>
              </a:lnSpc>
              <a:buNone/>
            </a:pPr>
            <a:r>
              <a:rPr lang="en-US" sz="1200" b="1" dirty="0">
                <a:solidFill>
                  <a:srgbClr val="17233B"/>
                </a:solidFill>
                <a:latin typeface="Calibri" pitchFamily="34" charset="0"/>
                <a:ea typeface="Calibri" pitchFamily="34" charset="-122"/>
                <a:cs typeface="Calibri" pitchFamily="34" charset="-120"/>
              </a:rPr>
              <a:t>Trans table — </a:t>
            </a:r>
            <a:pPr indent="0" marL="0">
              <a:lnSpc>
                <a:spcPts val="1500"/>
              </a:lnSpc>
              <a:buNone/>
            </a:pPr>
            <a:r>
              <a:rPr lang="en-US" sz="1200" dirty="0">
                <a:solidFill>
                  <a:srgbClr val="232B3A"/>
                </a:solidFill>
                <a:latin typeface="Calibri" pitchFamily="34" charset="0"/>
                <a:ea typeface="Calibri" pitchFamily="34" charset="-122"/>
                <a:cs typeface="Calibri" pitchFamily="34" charset="-120"/>
              </a:rPr>
              <a:t>An intermediate (“DB_trans”) table; short-lived, usually truncate-and-load.</a:t>
            </a:r>
            <a:endParaRPr lang="en-US" sz="1200" dirty="0"/>
          </a:p>
        </p:txBody>
      </p:sp>
      <p:sp>
        <p:nvSpPr>
          <p:cNvPr id="8" name="Text 6"/>
          <p:cNvSpPr/>
          <p:nvPr/>
        </p:nvSpPr>
        <p:spPr>
          <a:xfrm>
            <a:off x="6263640" y="1600200"/>
            <a:ext cx="5394960" cy="868680"/>
          </a:xfrm>
          <a:prstGeom prst="rect">
            <a:avLst/>
          </a:prstGeom>
          <a:noFill/>
          <a:ln/>
        </p:spPr>
        <p:txBody>
          <a:bodyPr wrap="square" rtlCol="0" anchor="t"/>
          <a:lstStyle/>
          <a:p>
            <a:pPr indent="0" marL="0">
              <a:lnSpc>
                <a:spcPts val="1500"/>
              </a:lnSpc>
              <a:buNone/>
            </a:pPr>
            <a:r>
              <a:rPr lang="en-US" sz="1200" b="1" dirty="0">
                <a:solidFill>
                  <a:srgbClr val="17233B"/>
                </a:solidFill>
                <a:latin typeface="Calibri" pitchFamily="34" charset="0"/>
                <a:ea typeface="Calibri" pitchFamily="34" charset="-122"/>
                <a:cs typeface="Calibri" pitchFamily="34" charset="-120"/>
              </a:rPr>
              <a:t>OIP — </a:t>
            </a:r>
            <a:pPr indent="0" marL="0">
              <a:lnSpc>
                <a:spcPts val="1500"/>
              </a:lnSpc>
              <a:buNone/>
            </a:pPr>
            <a:r>
              <a:rPr lang="en-US" sz="1200" dirty="0">
                <a:solidFill>
                  <a:srgbClr val="232B3A"/>
                </a:solidFill>
                <a:latin typeface="Calibri" pitchFamily="34" charset="0"/>
                <a:ea typeface="Calibri" pitchFamily="34" charset="-122"/>
                <a:cs typeface="Calibri" pitchFamily="34" charset="-120"/>
              </a:rPr>
              <a:t>External vendor-provided source files (CSV/zip) landed on ADLS.</a:t>
            </a:r>
            <a:endParaRPr lang="en-US" sz="1200" dirty="0"/>
          </a:p>
        </p:txBody>
      </p:sp>
      <p:sp>
        <p:nvSpPr>
          <p:cNvPr id="9" name="Text 7"/>
          <p:cNvSpPr/>
          <p:nvPr/>
        </p:nvSpPr>
        <p:spPr>
          <a:xfrm>
            <a:off x="6263640" y="2532888"/>
            <a:ext cx="5394960" cy="868680"/>
          </a:xfrm>
          <a:prstGeom prst="rect">
            <a:avLst/>
          </a:prstGeom>
          <a:noFill/>
          <a:ln/>
        </p:spPr>
        <p:txBody>
          <a:bodyPr wrap="square" rtlCol="0" anchor="t"/>
          <a:lstStyle/>
          <a:p>
            <a:pPr indent="0" marL="0">
              <a:lnSpc>
                <a:spcPts val="1500"/>
              </a:lnSpc>
              <a:buNone/>
            </a:pPr>
            <a:r>
              <a:rPr lang="en-US" sz="1200" b="1" dirty="0">
                <a:solidFill>
                  <a:srgbClr val="17233B"/>
                </a:solidFill>
                <a:latin typeface="Calibri" pitchFamily="34" charset="0"/>
                <a:ea typeface="Calibri" pitchFamily="34" charset="-122"/>
                <a:cs typeface="Calibri" pitchFamily="34" charset="-120"/>
              </a:rPr>
              <a:t>Landing zone table — </a:t>
            </a:r>
            <a:pPr indent="0" marL="0">
              <a:lnSpc>
                <a:spcPts val="1500"/>
              </a:lnSpc>
              <a:buNone/>
            </a:pPr>
            <a:r>
              <a:rPr lang="en-US" sz="1200" dirty="0">
                <a:solidFill>
                  <a:srgbClr val="232B3A"/>
                </a:solidFill>
                <a:latin typeface="Calibri" pitchFamily="34" charset="0"/>
                <a:ea typeface="Calibri" pitchFamily="34" charset="-122"/>
                <a:cs typeface="Calibri" pitchFamily="34" charset="-120"/>
              </a:rPr>
              <a:t>Data pre-loaded by another pipeline outside this project's scope.</a:t>
            </a:r>
            <a:endParaRPr lang="en-US" sz="1200" dirty="0"/>
          </a:p>
        </p:txBody>
      </p:sp>
      <p:sp>
        <p:nvSpPr>
          <p:cNvPr id="10" name="Text 8"/>
          <p:cNvSpPr/>
          <p:nvPr/>
        </p:nvSpPr>
        <p:spPr>
          <a:xfrm>
            <a:off x="6263640" y="3465576"/>
            <a:ext cx="5394960" cy="868680"/>
          </a:xfrm>
          <a:prstGeom prst="rect">
            <a:avLst/>
          </a:prstGeom>
          <a:noFill/>
          <a:ln/>
        </p:spPr>
        <p:txBody>
          <a:bodyPr wrap="square" rtlCol="0" anchor="t"/>
          <a:lstStyle/>
          <a:p>
            <a:pPr indent="0" marL="0">
              <a:lnSpc>
                <a:spcPts val="1500"/>
              </a:lnSpc>
              <a:buNone/>
            </a:pPr>
            <a:r>
              <a:rPr lang="en-US" sz="1200" b="1" dirty="0">
                <a:solidFill>
                  <a:srgbClr val="17233B"/>
                </a:solidFill>
                <a:latin typeface="Calibri" pitchFamily="34" charset="0"/>
                <a:ea typeface="Calibri" pitchFamily="34" charset="-122"/>
                <a:cs typeface="Calibri" pitchFamily="34" charset="-120"/>
              </a:rPr>
              <a:t>IMP / EXP / INT — </a:t>
            </a:r>
            <a:pPr indent="0" marL="0">
              <a:lnSpc>
                <a:spcPts val="1500"/>
              </a:lnSpc>
              <a:buNone/>
            </a:pPr>
            <a:r>
              <a:rPr lang="en-US" sz="1200" dirty="0">
                <a:solidFill>
                  <a:srgbClr val="232B3A"/>
                </a:solidFill>
                <a:latin typeface="Calibri" pitchFamily="34" charset="0"/>
                <a:ea typeface="Calibri" pitchFamily="34" charset="-122"/>
                <a:cs typeface="Calibri" pitchFamily="34" charset="-120"/>
              </a:rPr>
              <a:t>Stream role categories: import, export, or intermediate.</a:t>
            </a:r>
            <a:endParaRPr lang="en-US" sz="1200" dirty="0"/>
          </a:p>
        </p:txBody>
      </p:sp>
      <p:sp>
        <p:nvSpPr>
          <p:cNvPr id="11" name="Text 9"/>
          <p:cNvSpPr/>
          <p:nvPr/>
        </p:nvSpPr>
        <p:spPr>
          <a:xfrm>
            <a:off x="6263640" y="4398264"/>
            <a:ext cx="5394960" cy="868680"/>
          </a:xfrm>
          <a:prstGeom prst="rect">
            <a:avLst/>
          </a:prstGeom>
          <a:noFill/>
          <a:ln/>
        </p:spPr>
        <p:txBody>
          <a:bodyPr wrap="square" rtlCol="0" anchor="t"/>
          <a:lstStyle/>
          <a:p>
            <a:pPr indent="0" marL="0">
              <a:lnSpc>
                <a:spcPts val="1500"/>
              </a:lnSpc>
              <a:buNone/>
            </a:pPr>
            <a:r>
              <a:rPr lang="en-US" sz="1200" b="1" dirty="0">
                <a:solidFill>
                  <a:srgbClr val="17233B"/>
                </a:solidFill>
                <a:latin typeface="Calibri" pitchFamily="34" charset="0"/>
                <a:ea typeface="Calibri" pitchFamily="34" charset="-122"/>
                <a:cs typeface="Calibri" pitchFamily="34" charset="-120"/>
              </a:rPr>
              <a:t>Catalog — </a:t>
            </a:r>
            <a:pPr indent="0" marL="0">
              <a:lnSpc>
                <a:spcPts val="1500"/>
              </a:lnSpc>
              <a:buNone/>
            </a:pPr>
            <a:r>
              <a:rPr lang="en-US" sz="1200" dirty="0">
                <a:solidFill>
                  <a:srgbClr val="232B3A"/>
                </a:solidFill>
                <a:latin typeface="Calibri" pitchFamily="34" charset="0"/>
                <a:ea typeface="Calibri" pitchFamily="34" charset="-122"/>
                <a:cs typeface="Calibri" pitchFamily="34" charset="-120"/>
              </a:rPr>
              <a:t>The top level of Databricks' 3-part naming; assigns table ownership to a squad.</a:t>
            </a:r>
            <a:endParaRPr lang="en-US" sz="1200" dirty="0"/>
          </a:p>
        </p:txBody>
      </p:sp>
      <p:sp>
        <p:nvSpPr>
          <p:cNvPr id="12" name="Text 10"/>
          <p:cNvSpPr/>
          <p:nvPr/>
        </p:nvSpPr>
        <p:spPr>
          <a:xfrm>
            <a:off x="457200" y="6519672"/>
            <a:ext cx="7315200" cy="274320"/>
          </a:xfrm>
          <a:prstGeom prst="rect">
            <a:avLst/>
          </a:prstGeom>
          <a:noFill/>
          <a:ln/>
        </p:spPr>
        <p:txBody>
          <a:bodyPr wrap="square" rtlCol="0" anchor="ctr"/>
          <a:lstStyle/>
          <a:p>
            <a:pPr algn="l" indent="0" marL="0">
              <a:buNone/>
            </a:pPr>
            <a:r>
              <a:rPr lang="en-US" sz="900" b="1" spc="100" kern="0" dirty="0">
                <a:solidFill>
                  <a:srgbClr val="8D9AAE"/>
                </a:solidFill>
                <a:latin typeface="Calibri" pitchFamily="34" charset="0"/>
                <a:ea typeface="Calibri" pitchFamily="34" charset="-122"/>
                <a:cs typeface="Calibri" pitchFamily="34" charset="-120"/>
              </a:rPr>
              <a:t>SESSION 2 · REFERENCE</a:t>
            </a:r>
            <a:endParaRPr lang="en-US" sz="900" dirty="0"/>
          </a:p>
        </p:txBody>
      </p:sp>
      <p:sp>
        <p:nvSpPr>
          <p:cNvPr id="13" name="Text 11"/>
          <p:cNvSpPr/>
          <p:nvPr/>
        </p:nvSpPr>
        <p:spPr>
          <a:xfrm>
            <a:off x="11274552" y="6519672"/>
            <a:ext cx="457200" cy="274320"/>
          </a:xfrm>
          <a:prstGeom prst="rect">
            <a:avLst/>
          </a:prstGeom>
          <a:noFill/>
          <a:ln/>
        </p:spPr>
        <p:txBody>
          <a:bodyPr wrap="square" rtlCol="0" anchor="ctr"/>
          <a:lstStyle/>
          <a:p>
            <a:pPr algn="r" indent="0" marL="0">
              <a:buNone/>
            </a:pPr>
            <a:r>
              <a:rPr lang="en-US" sz="900" dirty="0">
                <a:solidFill>
                  <a:srgbClr val="8D9AAE"/>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7233B"/>
        </a:solidFill>
      </p:bgPr>
    </p:bg>
    <p:spTree>
      <p:nvGrpSpPr>
        <p:cNvPr id="1" name=""/>
        <p:cNvGrpSpPr/>
        <p:nvPr/>
      </p:nvGrpSpPr>
      <p:grpSpPr>
        <a:xfrm>
          <a:off x="0" y="0"/>
          <a:ext cx="0" cy="0"/>
          <a:chOff x="0" y="0"/>
          <a:chExt cx="0" cy="0"/>
        </a:xfrm>
      </p:grpSpPr>
      <p:sp>
        <p:nvSpPr>
          <p:cNvPr id="2" name="Shape 0"/>
          <p:cNvSpPr/>
          <p:nvPr/>
        </p:nvSpPr>
        <p:spPr>
          <a:xfrm rot="900000">
            <a:off x="9966960" y="5120640"/>
            <a:ext cx="3657600" cy="3657600"/>
          </a:xfrm>
          <a:prstGeom prst="roundRect">
            <a:avLst>
              <a:gd name="adj" fmla="val 10000"/>
            </a:avLst>
          </a:prstGeom>
          <a:solidFill>
            <a:srgbClr val="1F2E4D"/>
          </a:solidFill>
          <a:ln/>
        </p:spPr>
      </p:sp>
      <p:sp>
        <p:nvSpPr>
          <p:cNvPr id="3" name="Text 1"/>
          <p:cNvSpPr/>
          <p:nvPr/>
        </p:nvSpPr>
        <p:spPr>
          <a:xfrm>
            <a:off x="548640" y="457200"/>
            <a:ext cx="7315200" cy="320040"/>
          </a:xfrm>
          <a:prstGeom prst="rect">
            <a:avLst/>
          </a:prstGeom>
          <a:noFill/>
          <a:ln/>
        </p:spPr>
        <p:txBody>
          <a:bodyPr wrap="square" rtlCol="0" anchor="ctr"/>
          <a:lstStyle/>
          <a:p>
            <a:pPr indent="0" marL="0">
              <a:buNone/>
            </a:pPr>
            <a:r>
              <a:rPr lang="en-US" sz="1200" b="1" spc="120" kern="0" dirty="0">
                <a:solidFill>
                  <a:srgbClr val="FF3621"/>
                </a:solidFill>
                <a:latin typeface="Calibri" pitchFamily="34" charset="0"/>
                <a:ea typeface="Calibri" pitchFamily="34" charset="-122"/>
                <a:cs typeface="Calibri" pitchFamily="34" charset="-120"/>
              </a:rPr>
              <a:t>BRINGING IT TOGETHER</a:t>
            </a:r>
            <a:endParaRPr lang="en-US" sz="1200" dirty="0"/>
          </a:p>
        </p:txBody>
      </p:sp>
      <p:sp>
        <p:nvSpPr>
          <p:cNvPr id="4" name="Text 2"/>
          <p:cNvSpPr/>
          <p:nvPr/>
        </p:nvSpPr>
        <p:spPr>
          <a:xfrm>
            <a:off x="548640" y="777240"/>
            <a:ext cx="10515600" cy="64008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Your Session-2 checklist</a:t>
            </a:r>
            <a:endParaRPr lang="en-US" sz="3200" dirty="0"/>
          </a:p>
        </p:txBody>
      </p:sp>
      <p:sp>
        <p:nvSpPr>
          <p:cNvPr id="5" name="Shape 3"/>
          <p:cNvSpPr/>
          <p:nvPr/>
        </p:nvSpPr>
        <p:spPr>
          <a:xfrm>
            <a:off x="548640" y="1755648"/>
            <a:ext cx="320040" cy="320040"/>
          </a:xfrm>
          <a:prstGeom prst="ellipse">
            <a:avLst/>
          </a:prstGeom>
          <a:solidFill>
            <a:srgbClr val="FF3621"/>
          </a:solidFill>
          <a:ln/>
        </p:spPr>
      </p:sp>
      <p:sp>
        <p:nvSpPr>
          <p:cNvPr id="6" name="Text 4"/>
          <p:cNvSpPr/>
          <p:nvPr/>
        </p:nvSpPr>
        <p:spPr>
          <a:xfrm>
            <a:off x="548640" y="1755648"/>
            <a:ext cx="320040" cy="320040"/>
          </a:xfrm>
          <a:prstGeom prst="rect">
            <a:avLst/>
          </a:prstGeom>
          <a:noFill/>
          <a:ln/>
        </p:spPr>
        <p:txBody>
          <a:bodyPr wrap="square"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1</a:t>
            </a:r>
            <a:endParaRPr lang="en-US" sz="1200" dirty="0"/>
          </a:p>
        </p:txBody>
      </p:sp>
      <p:sp>
        <p:nvSpPr>
          <p:cNvPr id="7" name="Text 5"/>
          <p:cNvSpPr/>
          <p:nvPr/>
        </p:nvSpPr>
        <p:spPr>
          <a:xfrm>
            <a:off x="1051560" y="1664208"/>
            <a:ext cx="10241280" cy="594360"/>
          </a:xfrm>
          <a:prstGeom prst="rect">
            <a:avLst/>
          </a:prstGeom>
          <a:noFill/>
          <a:ln/>
        </p:spPr>
        <p:txBody>
          <a:bodyPr wrap="square" rtlCol="0" anchor="ctr"/>
          <a:lstStyle/>
          <a:p>
            <a:pPr indent="0" marL="0">
              <a:lnSpc>
                <a:spcPts val="1600"/>
              </a:lnSpc>
              <a:buNone/>
            </a:pPr>
            <a:r>
              <a:rPr lang="en-US" sz="1350" dirty="0">
                <a:solidFill>
                  <a:srgbClr val="E7ECF6"/>
                </a:solidFill>
                <a:latin typeface="Calibri" pitchFamily="34" charset="0"/>
                <a:ea typeface="Calibri" pitchFamily="34" charset="-122"/>
                <a:cs typeface="Calibri" pitchFamily="34" charset="-120"/>
              </a:rPr>
              <a:t>Get access to the master tracking Excel; learn to read script prefix, sequence, and table type.</a:t>
            </a:r>
            <a:endParaRPr lang="en-US" sz="1350" dirty="0"/>
          </a:p>
        </p:txBody>
      </p:sp>
      <p:sp>
        <p:nvSpPr>
          <p:cNvPr id="8" name="Shape 6"/>
          <p:cNvSpPr/>
          <p:nvPr/>
        </p:nvSpPr>
        <p:spPr>
          <a:xfrm>
            <a:off x="548640" y="2432304"/>
            <a:ext cx="320040" cy="320040"/>
          </a:xfrm>
          <a:prstGeom prst="ellipse">
            <a:avLst/>
          </a:prstGeom>
          <a:solidFill>
            <a:srgbClr val="FF3621"/>
          </a:solidFill>
          <a:ln/>
        </p:spPr>
      </p:sp>
      <p:sp>
        <p:nvSpPr>
          <p:cNvPr id="9" name="Text 7"/>
          <p:cNvSpPr/>
          <p:nvPr/>
        </p:nvSpPr>
        <p:spPr>
          <a:xfrm>
            <a:off x="548640" y="2432304"/>
            <a:ext cx="320040" cy="320040"/>
          </a:xfrm>
          <a:prstGeom prst="rect">
            <a:avLst/>
          </a:prstGeom>
          <a:noFill/>
          <a:ln/>
        </p:spPr>
        <p:txBody>
          <a:bodyPr wrap="square"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2</a:t>
            </a:r>
            <a:endParaRPr lang="en-US" sz="1200" dirty="0"/>
          </a:p>
        </p:txBody>
      </p:sp>
      <p:sp>
        <p:nvSpPr>
          <p:cNvPr id="10" name="Text 8"/>
          <p:cNvSpPr/>
          <p:nvPr/>
        </p:nvSpPr>
        <p:spPr>
          <a:xfrm>
            <a:off x="1051560" y="2340864"/>
            <a:ext cx="10241280" cy="594360"/>
          </a:xfrm>
          <a:prstGeom prst="rect">
            <a:avLst/>
          </a:prstGeom>
          <a:noFill/>
          <a:ln/>
        </p:spPr>
        <p:txBody>
          <a:bodyPr wrap="square" rtlCol="0" anchor="ctr"/>
          <a:lstStyle/>
          <a:p>
            <a:pPr indent="0" marL="0">
              <a:lnSpc>
                <a:spcPts val="1600"/>
              </a:lnSpc>
              <a:buNone/>
            </a:pPr>
            <a:r>
              <a:rPr lang="en-US" sz="1350" dirty="0">
                <a:solidFill>
                  <a:srgbClr val="E7ECF6"/>
                </a:solidFill>
                <a:latin typeface="Calibri" pitchFamily="34" charset="0"/>
                <a:ea typeface="Calibri" pitchFamily="34" charset="-122"/>
                <a:cs typeface="Calibri" pitchFamily="34" charset="-120"/>
              </a:rPr>
              <a:t>Understand the 4 utilities (Data Load, DDL Deployment, AVF, Unix→Python) and when each is used.</a:t>
            </a:r>
            <a:endParaRPr lang="en-US" sz="1350" dirty="0"/>
          </a:p>
        </p:txBody>
      </p:sp>
      <p:sp>
        <p:nvSpPr>
          <p:cNvPr id="11" name="Shape 9"/>
          <p:cNvSpPr/>
          <p:nvPr/>
        </p:nvSpPr>
        <p:spPr>
          <a:xfrm>
            <a:off x="548640" y="3108960"/>
            <a:ext cx="320040" cy="320040"/>
          </a:xfrm>
          <a:prstGeom prst="ellipse">
            <a:avLst/>
          </a:prstGeom>
          <a:solidFill>
            <a:srgbClr val="FF3621"/>
          </a:solidFill>
          <a:ln/>
        </p:spPr>
      </p:sp>
      <p:sp>
        <p:nvSpPr>
          <p:cNvPr id="12" name="Text 10"/>
          <p:cNvSpPr/>
          <p:nvPr/>
        </p:nvSpPr>
        <p:spPr>
          <a:xfrm>
            <a:off x="548640" y="3108960"/>
            <a:ext cx="320040" cy="320040"/>
          </a:xfrm>
          <a:prstGeom prst="rect">
            <a:avLst/>
          </a:prstGeom>
          <a:noFill/>
          <a:ln/>
        </p:spPr>
        <p:txBody>
          <a:bodyPr wrap="square"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3</a:t>
            </a:r>
            <a:endParaRPr lang="en-US" sz="1200" dirty="0"/>
          </a:p>
        </p:txBody>
      </p:sp>
      <p:sp>
        <p:nvSpPr>
          <p:cNvPr id="13" name="Text 11"/>
          <p:cNvSpPr/>
          <p:nvPr/>
        </p:nvSpPr>
        <p:spPr>
          <a:xfrm>
            <a:off x="1051560" y="3017520"/>
            <a:ext cx="10241280" cy="594360"/>
          </a:xfrm>
          <a:prstGeom prst="rect">
            <a:avLst/>
          </a:prstGeom>
          <a:noFill/>
          <a:ln/>
        </p:spPr>
        <p:txBody>
          <a:bodyPr wrap="square" rtlCol="0" anchor="ctr"/>
          <a:lstStyle/>
          <a:p>
            <a:pPr indent="0" marL="0">
              <a:lnSpc>
                <a:spcPts val="1600"/>
              </a:lnSpc>
              <a:buNone/>
            </a:pPr>
            <a:r>
              <a:rPr lang="en-US" sz="1350" dirty="0">
                <a:solidFill>
                  <a:srgbClr val="E7ECF6"/>
                </a:solidFill>
                <a:latin typeface="Calibri" pitchFamily="34" charset="0"/>
                <a:ea typeface="Calibri" pitchFamily="34" charset="-122"/>
                <a:cs typeface="Calibri" pitchFamily="34" charset="-120"/>
              </a:rPr>
              <a:t>Learn your squad's catalog naming convention (catalog.schema.table).</a:t>
            </a:r>
            <a:endParaRPr lang="en-US" sz="1350" dirty="0"/>
          </a:p>
        </p:txBody>
      </p:sp>
      <p:sp>
        <p:nvSpPr>
          <p:cNvPr id="14" name="Shape 12"/>
          <p:cNvSpPr/>
          <p:nvPr/>
        </p:nvSpPr>
        <p:spPr>
          <a:xfrm>
            <a:off x="548640" y="3785616"/>
            <a:ext cx="320040" cy="320040"/>
          </a:xfrm>
          <a:prstGeom prst="ellipse">
            <a:avLst/>
          </a:prstGeom>
          <a:solidFill>
            <a:srgbClr val="FF3621"/>
          </a:solidFill>
          <a:ln/>
        </p:spPr>
      </p:sp>
      <p:sp>
        <p:nvSpPr>
          <p:cNvPr id="15" name="Text 13"/>
          <p:cNvSpPr/>
          <p:nvPr/>
        </p:nvSpPr>
        <p:spPr>
          <a:xfrm>
            <a:off x="548640" y="3785616"/>
            <a:ext cx="320040" cy="320040"/>
          </a:xfrm>
          <a:prstGeom prst="rect">
            <a:avLst/>
          </a:prstGeom>
          <a:noFill/>
          <a:ln/>
        </p:spPr>
        <p:txBody>
          <a:bodyPr wrap="square"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4</a:t>
            </a:r>
            <a:endParaRPr lang="en-US" sz="1200" dirty="0"/>
          </a:p>
        </p:txBody>
      </p:sp>
      <p:sp>
        <p:nvSpPr>
          <p:cNvPr id="16" name="Text 14"/>
          <p:cNvSpPr/>
          <p:nvPr/>
        </p:nvSpPr>
        <p:spPr>
          <a:xfrm>
            <a:off x="1051560" y="3694176"/>
            <a:ext cx="10241280" cy="594360"/>
          </a:xfrm>
          <a:prstGeom prst="rect">
            <a:avLst/>
          </a:prstGeom>
          <a:noFill/>
          <a:ln/>
        </p:spPr>
        <p:txBody>
          <a:bodyPr wrap="square" rtlCol="0" anchor="ctr"/>
          <a:lstStyle/>
          <a:p>
            <a:pPr indent="0" marL="0">
              <a:lnSpc>
                <a:spcPts val="1600"/>
              </a:lnSpc>
              <a:buNone/>
            </a:pPr>
            <a:r>
              <a:rPr lang="en-US" sz="1350" dirty="0">
                <a:solidFill>
                  <a:srgbClr val="E7ECF6"/>
                </a:solidFill>
                <a:latin typeface="Calibri" pitchFamily="34" charset="0"/>
                <a:ea typeface="Calibri" pitchFamily="34" charset="-122"/>
                <a:cs typeface="Calibri" pitchFamily="34" charset="-120"/>
              </a:rPr>
              <a:t>Know the git workflow: feature branch → AVF unit test → dev-squad PR → pre-prod parallel run.</a:t>
            </a:r>
            <a:endParaRPr lang="en-US" sz="1350" dirty="0"/>
          </a:p>
        </p:txBody>
      </p:sp>
      <p:sp>
        <p:nvSpPr>
          <p:cNvPr id="17" name="Shape 15"/>
          <p:cNvSpPr/>
          <p:nvPr/>
        </p:nvSpPr>
        <p:spPr>
          <a:xfrm>
            <a:off x="548640" y="4462272"/>
            <a:ext cx="320040" cy="320040"/>
          </a:xfrm>
          <a:prstGeom prst="ellipse">
            <a:avLst/>
          </a:prstGeom>
          <a:solidFill>
            <a:srgbClr val="FF3621"/>
          </a:solidFill>
          <a:ln/>
        </p:spPr>
      </p:sp>
      <p:sp>
        <p:nvSpPr>
          <p:cNvPr id="18" name="Text 16"/>
          <p:cNvSpPr/>
          <p:nvPr/>
        </p:nvSpPr>
        <p:spPr>
          <a:xfrm>
            <a:off x="548640" y="4462272"/>
            <a:ext cx="320040" cy="320040"/>
          </a:xfrm>
          <a:prstGeom prst="rect">
            <a:avLst/>
          </a:prstGeom>
          <a:noFill/>
          <a:ln/>
        </p:spPr>
        <p:txBody>
          <a:bodyPr wrap="square"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5</a:t>
            </a:r>
            <a:endParaRPr lang="en-US" sz="1200" dirty="0"/>
          </a:p>
        </p:txBody>
      </p:sp>
      <p:sp>
        <p:nvSpPr>
          <p:cNvPr id="19" name="Text 17"/>
          <p:cNvSpPr/>
          <p:nvPr/>
        </p:nvSpPr>
        <p:spPr>
          <a:xfrm>
            <a:off x="1051560" y="4370832"/>
            <a:ext cx="10241280" cy="594360"/>
          </a:xfrm>
          <a:prstGeom prst="rect">
            <a:avLst/>
          </a:prstGeom>
          <a:noFill/>
          <a:ln/>
        </p:spPr>
        <p:txBody>
          <a:bodyPr wrap="square" rtlCol="0" anchor="ctr"/>
          <a:lstStyle/>
          <a:p>
            <a:pPr indent="0" marL="0">
              <a:lnSpc>
                <a:spcPts val="1600"/>
              </a:lnSpc>
              <a:buNone/>
            </a:pPr>
            <a:r>
              <a:rPr lang="en-US" sz="1350" dirty="0">
                <a:solidFill>
                  <a:srgbClr val="E7ECF6"/>
                </a:solidFill>
                <a:latin typeface="Calibri" pitchFamily="34" charset="0"/>
                <a:ea typeface="Calibri" pitchFamily="34" charset="-122"/>
                <a:cs typeface="Calibri" pitchFamily="34" charset="-120"/>
              </a:rPr>
              <a:t>Raise any count/value mismatch in your squad's daily call — never fix and merge it solo.</a:t>
            </a:r>
            <a:endParaRPr lang="en-US" sz="1350" dirty="0"/>
          </a:p>
        </p:txBody>
      </p:sp>
      <p:sp>
        <p:nvSpPr>
          <p:cNvPr id="20" name="Text 18"/>
          <p:cNvSpPr/>
          <p:nvPr/>
        </p:nvSpPr>
        <p:spPr>
          <a:xfrm>
            <a:off x="548640" y="5257800"/>
            <a:ext cx="8961120" cy="640080"/>
          </a:xfrm>
          <a:prstGeom prst="rect">
            <a:avLst/>
          </a:prstGeom>
          <a:noFill/>
          <a:ln/>
        </p:spPr>
        <p:txBody>
          <a:bodyPr wrap="square" rtlCol="0" anchor="ctr"/>
          <a:lstStyle/>
          <a:p>
            <a:pPr indent="0" marL="0">
              <a:lnSpc>
                <a:spcPts val="1500"/>
              </a:lnSpc>
              <a:buNone/>
            </a:pPr>
            <a:r>
              <a:rPr lang="en-US" sz="1200" i="1" dirty="0">
                <a:solidFill>
                  <a:srgbClr val="AAB8D1"/>
                </a:solidFill>
                <a:latin typeface="Calibri" pitchFamily="34" charset="0"/>
                <a:ea typeface="Calibri" pitchFamily="34" charset="-122"/>
                <a:cs typeface="Calibri" pitchFamily="34" charset="-120"/>
              </a:rPr>
              <a:t>Questions or gaps in this deck? Loop in your pod lead — several answers here are meant to be resolved 1:1 with your squad.</a:t>
            </a:r>
            <a:endParaRPr lang="en-US" sz="1200" dirty="0"/>
          </a:p>
        </p:txBody>
      </p:sp>
      <p:sp>
        <p:nvSpPr>
          <p:cNvPr id="21" name="Text 19"/>
          <p:cNvSpPr/>
          <p:nvPr/>
        </p:nvSpPr>
        <p:spPr>
          <a:xfrm>
            <a:off x="457200" y="6519672"/>
            <a:ext cx="7315200" cy="274320"/>
          </a:xfrm>
          <a:prstGeom prst="rect">
            <a:avLst/>
          </a:prstGeom>
          <a:noFill/>
          <a:ln/>
        </p:spPr>
        <p:txBody>
          <a:bodyPr wrap="square" rtlCol="0" anchor="ctr"/>
          <a:lstStyle/>
          <a:p>
            <a:pPr algn="l" indent="0" marL="0">
              <a:buNone/>
            </a:pPr>
            <a:r>
              <a:rPr lang="en-US" sz="900" b="1" spc="100" kern="0" dirty="0">
                <a:solidFill>
                  <a:srgbClr val="8D9AAE"/>
                </a:solidFill>
                <a:latin typeface="Calibri" pitchFamily="34" charset="0"/>
                <a:ea typeface="Calibri" pitchFamily="34" charset="-122"/>
                <a:cs typeface="Calibri" pitchFamily="34" charset="-120"/>
              </a:rPr>
              <a:t>SESSION 2 · POD LEAD HOUR</a:t>
            </a:r>
            <a:endParaRPr lang="en-US" sz="900" dirty="0"/>
          </a:p>
        </p:txBody>
      </p:sp>
      <p:sp>
        <p:nvSpPr>
          <p:cNvPr id="22" name="Text 20"/>
          <p:cNvSpPr/>
          <p:nvPr/>
        </p:nvSpPr>
        <p:spPr>
          <a:xfrm>
            <a:off x="11274552" y="6519672"/>
            <a:ext cx="457200" cy="274320"/>
          </a:xfrm>
          <a:prstGeom prst="rect">
            <a:avLst/>
          </a:prstGeom>
          <a:noFill/>
          <a:ln/>
        </p:spPr>
        <p:txBody>
          <a:bodyPr wrap="square" rtlCol="0" anchor="ctr"/>
          <a:lstStyle/>
          <a:p>
            <a:pPr algn="r" indent="0" marL="0">
              <a:buNone/>
            </a:pPr>
            <a:r>
              <a:rPr lang="en-US" sz="900" dirty="0">
                <a:solidFill>
                  <a:srgbClr val="8D9AAE"/>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2026-09-01T07:13:05Z</dcterms:created>
  <dcterms:modified xsi:type="dcterms:W3CDTF">2026-09-01T07:13:05Z</dcterms:modified>
</cp:coreProperties>
</file>